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</p:sldIdLst>
  <p:sldSz cy="6858000" cx="9144000"/>
  <p:notesSz cx="6997700" cy="9283700"/>
  <p:embeddedFontLst>
    <p:embeddedFont>
      <p:font typeface="Helvetica Neue"/>
      <p:regular r:id="rId44"/>
      <p:bold r:id="rId45"/>
      <p:italic r:id="rId46"/>
      <p:boldItalic r:id="rId4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707">
          <p15:clr>
            <a:srgbClr val="A4A3A4"/>
          </p15:clr>
        </p15:guide>
        <p15:guide id="2" pos="57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707" orient="horz"/>
        <p:guide pos="576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20" Type="http://schemas.openxmlformats.org/officeDocument/2006/relationships/slide" Target="slides/slide1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22" Type="http://schemas.openxmlformats.org/officeDocument/2006/relationships/slide" Target="slides/slide17.xml"/><Relationship Id="rId44" Type="http://schemas.openxmlformats.org/officeDocument/2006/relationships/font" Target="fonts/HelveticaNeue-regular.fntdata"/><Relationship Id="rId21" Type="http://schemas.openxmlformats.org/officeDocument/2006/relationships/slide" Target="slides/slide16.xml"/><Relationship Id="rId43" Type="http://schemas.openxmlformats.org/officeDocument/2006/relationships/slide" Target="slides/slide38.xml"/><Relationship Id="rId24" Type="http://schemas.openxmlformats.org/officeDocument/2006/relationships/slide" Target="slides/slide19.xml"/><Relationship Id="rId46" Type="http://schemas.openxmlformats.org/officeDocument/2006/relationships/font" Target="fonts/HelveticaNeue-italic.fntdata"/><Relationship Id="rId23" Type="http://schemas.openxmlformats.org/officeDocument/2006/relationships/slide" Target="slides/slide18.xml"/><Relationship Id="rId45" Type="http://schemas.openxmlformats.org/officeDocument/2006/relationships/font" Target="fonts/HelveticaNeue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47" Type="http://schemas.openxmlformats.org/officeDocument/2006/relationships/font" Target="fonts/HelveticaNeue-boldItalic.fntdata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32125" cy="463550"/>
          </a:xfrm>
          <a:prstGeom prst="rect">
            <a:avLst/>
          </a:prstGeom>
          <a:noFill/>
          <a:ln>
            <a:noFill/>
          </a:ln>
        </p:spPr>
        <p:txBody>
          <a:bodyPr anchorCtr="0" anchor="t" bIns="46500" lIns="93025" spcFirstLastPara="1" rIns="93025" wrap="square" tIns="465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965575" y="0"/>
            <a:ext cx="3032125" cy="463550"/>
          </a:xfrm>
          <a:prstGeom prst="rect">
            <a:avLst/>
          </a:prstGeom>
          <a:noFill/>
          <a:ln>
            <a:noFill/>
          </a:ln>
        </p:spPr>
        <p:txBody>
          <a:bodyPr anchorCtr="0" anchor="t" bIns="46500" lIns="93025" spcFirstLastPara="1" rIns="93025" wrap="square" tIns="465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6500" lIns="93025" spcFirstLastPara="1" rIns="93025" wrap="square" tIns="46500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820150"/>
            <a:ext cx="3032125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00" lIns="93025" spcFirstLastPara="1" rIns="93025" wrap="square" tIns="465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00" lIns="93025" spcFirstLastPara="1" rIns="93025" wrap="square" tIns="465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3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:notes"/>
          <p:cNvSpPr txBox="1"/>
          <p:nvPr>
            <p:ph idx="12" type="sldNum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00" lIns="93025" spcFirstLastPara="1" rIns="93025" wrap="square" tIns="465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sz="13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2" name="Google Shape;72;p1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3" name="Google Shape;73;p1:notes"/>
          <p:cNvSpPr txBox="1"/>
          <p:nvPr>
            <p:ph idx="1" type="body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:notes"/>
          <p:cNvSpPr txBox="1"/>
          <p:nvPr>
            <p:ph idx="12" type="sldNum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00" lIns="93025" spcFirstLastPara="1" rIns="93025" wrap="square" tIns="465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sz="13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8" name="Google Shape;78;p2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9" name="Google Shape;79;p2:notes"/>
          <p:cNvSpPr txBox="1"/>
          <p:nvPr>
            <p:ph idx="1" type="body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3:notes"/>
          <p:cNvSpPr txBox="1"/>
          <p:nvPr>
            <p:ph idx="12" type="sldNum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00" lIns="93025" spcFirstLastPara="1" rIns="93025" wrap="square" tIns="465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sz="13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5" name="Google Shape;85;p3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6" name="Google Shape;86;p3:notes"/>
          <p:cNvSpPr txBox="1"/>
          <p:nvPr>
            <p:ph idx="1" type="body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:notes"/>
          <p:cNvSpPr txBox="1"/>
          <p:nvPr>
            <p:ph idx="12" type="sldNum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00" lIns="93025" spcFirstLastPara="1" rIns="93025" wrap="square" tIns="465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sz="13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9" name="Google Shape;99;p4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0" name="Google Shape;100;p4:notes"/>
          <p:cNvSpPr txBox="1"/>
          <p:nvPr>
            <p:ph idx="1" type="body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/>
          <p:nvPr>
            <p:ph idx="12" type="sldNum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00" lIns="93025" spcFirstLastPara="1" rIns="93025" wrap="square" tIns="465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sz="13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2" name="Google Shape;112;p5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3" name="Google Shape;113;p5:notes"/>
          <p:cNvSpPr txBox="1"/>
          <p:nvPr>
            <p:ph idx="1" type="body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6:notes"/>
          <p:cNvSpPr txBox="1"/>
          <p:nvPr>
            <p:ph idx="12" type="sldNum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00" lIns="93025" spcFirstLastPara="1" rIns="93025" wrap="square" tIns="465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sz="13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9" name="Google Shape;119;p6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0" name="Google Shape;120;p6:notes"/>
          <p:cNvSpPr txBox="1"/>
          <p:nvPr>
            <p:ph idx="1" type="body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7:notes"/>
          <p:cNvSpPr txBox="1"/>
          <p:nvPr>
            <p:ph idx="1" type="body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</p:spPr>
        <p:txBody>
          <a:bodyPr anchorCtr="0" anchor="t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7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8:notes"/>
          <p:cNvSpPr txBox="1"/>
          <p:nvPr>
            <p:ph idx="12" type="sldNum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00" lIns="93025" spcFirstLastPara="1" rIns="93025" wrap="square" tIns="465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sz="13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2" name="Google Shape;132;p8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3" name="Google Shape;133;p8:notes"/>
          <p:cNvSpPr txBox="1"/>
          <p:nvPr>
            <p:ph idx="1" type="body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9:notes"/>
          <p:cNvSpPr txBox="1"/>
          <p:nvPr>
            <p:ph idx="12" type="sldNum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00" lIns="93025" spcFirstLastPara="1" rIns="93025" wrap="square" tIns="465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sz="13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2" name="Google Shape;142;p9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3" name="Google Shape;143;p9:notes"/>
          <p:cNvSpPr txBox="1"/>
          <p:nvPr>
            <p:ph idx="1" type="body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Mention:  checksums, bad sector remapping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0:notes"/>
          <p:cNvSpPr txBox="1"/>
          <p:nvPr>
            <p:ph idx="12" type="sldNum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00" lIns="93025" spcFirstLastPara="1" rIns="93025" wrap="square" tIns="465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sz="13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9" name="Google Shape;149;p10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0" name="Google Shape;150;p10:notes"/>
          <p:cNvSpPr txBox="1"/>
          <p:nvPr>
            <p:ph idx="1" type="body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1:notes"/>
          <p:cNvSpPr txBox="1"/>
          <p:nvPr>
            <p:ph idx="12" type="sldNum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00" lIns="93025" spcFirstLastPara="1" rIns="93025" wrap="square" tIns="465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sz="13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7" name="Google Shape;157;p11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8" name="Google Shape;158;p11:notes"/>
          <p:cNvSpPr txBox="1"/>
          <p:nvPr>
            <p:ph idx="1" type="body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2:notes"/>
          <p:cNvSpPr txBox="1"/>
          <p:nvPr>
            <p:ph idx="1" type="body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</p:spPr>
        <p:txBody>
          <a:bodyPr anchorCtr="0" anchor="t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2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3:notes"/>
          <p:cNvSpPr txBox="1"/>
          <p:nvPr>
            <p:ph idx="12" type="sldNum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00" lIns="93025" spcFirstLastPara="1" rIns="93025" wrap="square" tIns="465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sz="13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0" name="Google Shape;170;p13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1" name="Google Shape;171;p13:notes"/>
          <p:cNvSpPr txBox="1"/>
          <p:nvPr>
            <p:ph idx="1" type="body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4:notes"/>
          <p:cNvSpPr txBox="1"/>
          <p:nvPr>
            <p:ph idx="1" type="body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</p:spPr>
        <p:txBody>
          <a:bodyPr anchorCtr="0" anchor="t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4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5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3" name="Google Shape;183;p15:notes"/>
          <p:cNvSpPr txBox="1"/>
          <p:nvPr>
            <p:ph idx="1" type="body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Where is FTL stored?  How is it reconstructed on system startup? 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How to track number of erases per block (extra storage per block)</a:t>
            </a:r>
            <a:endParaRPr/>
          </a:p>
        </p:txBody>
      </p:sp>
      <p:sp>
        <p:nvSpPr>
          <p:cNvPr id="184" name="Google Shape;184;p15:notes"/>
          <p:cNvSpPr txBox="1"/>
          <p:nvPr>
            <p:ph idx="12" type="sldNum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00" lIns="93025" spcFirstLastPara="1" rIns="93025" wrap="square" tIns="465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sz="13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6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3" name="Google Shape;203;p16:notes"/>
          <p:cNvSpPr txBox="1"/>
          <p:nvPr>
            <p:ph idx="1" type="body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Where is FTL stored?  How is it reconstructed on system startup? 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How to track number of erases per block (extra storage per block)</a:t>
            </a:r>
            <a:endParaRPr/>
          </a:p>
        </p:txBody>
      </p:sp>
      <p:sp>
        <p:nvSpPr>
          <p:cNvPr id="204" name="Google Shape;204;p16:notes"/>
          <p:cNvSpPr txBox="1"/>
          <p:nvPr>
            <p:ph idx="12" type="sldNum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00" lIns="93025" spcFirstLastPara="1" rIns="93025" wrap="square" tIns="465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sz="13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7:notes"/>
          <p:cNvSpPr txBox="1"/>
          <p:nvPr>
            <p:ph idx="1" type="body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</p:spPr>
        <p:txBody>
          <a:bodyPr anchorCtr="0" anchor="t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7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8:notes"/>
          <p:cNvSpPr txBox="1"/>
          <p:nvPr>
            <p:ph idx="1" type="body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</p:spPr>
        <p:txBody>
          <a:bodyPr anchorCtr="0" anchor="t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8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9:notes"/>
          <p:cNvSpPr txBox="1"/>
          <p:nvPr>
            <p:ph idx="12" type="sldNum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00" lIns="93025" spcFirstLastPara="1" rIns="93025" wrap="square" tIns="465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sz="13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24" name="Google Shape;224;p19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5" name="Google Shape;225;p19:notes"/>
          <p:cNvSpPr txBox="1"/>
          <p:nvPr>
            <p:ph idx="1" type="body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0:notes"/>
          <p:cNvSpPr txBox="1"/>
          <p:nvPr>
            <p:ph idx="12" type="sldNum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00" lIns="93025" spcFirstLastPara="1" rIns="93025" wrap="square" tIns="465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sz="13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31" name="Google Shape;231;p20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2" name="Google Shape;232;p20:notes"/>
          <p:cNvSpPr txBox="1"/>
          <p:nvPr>
            <p:ph idx="1" type="body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1:notes"/>
          <p:cNvSpPr txBox="1"/>
          <p:nvPr>
            <p:ph idx="12" type="sldNum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00" lIns="93025" spcFirstLastPara="1" rIns="93025" wrap="square" tIns="465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sz="13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38" name="Google Shape;238;p21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9" name="Google Shape;239;p21:notes"/>
          <p:cNvSpPr txBox="1"/>
          <p:nvPr>
            <p:ph idx="1" type="body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6500" lIns="93025" spcFirstLastPara="1" rIns="93025" wrap="square" tIns="46500">
            <a:noAutofit/>
          </a:bodyPr>
          <a:lstStyle/>
          <a:p>
            <a:pPr indent="0" lvl="1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If one disk in a pair fails, data still available in the other</a:t>
            </a:r>
            <a:endParaRPr/>
          </a:p>
          <a:p>
            <a:pPr indent="0" lvl="2" marL="9144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Data loss would occur only if a disk fails, and its mirror disk also fails before the system is repaired</a:t>
            </a:r>
            <a:endParaRPr/>
          </a:p>
          <a:p>
            <a:pPr indent="0" lvl="3" marL="13716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Probability of combined event is very small </a:t>
            </a:r>
            <a:endParaRPr/>
          </a:p>
          <a:p>
            <a:pPr indent="0" lvl="4" marL="18288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Except for dependent failure modes such as fire or building collapse or electrical power surges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2:notes"/>
          <p:cNvSpPr txBox="1"/>
          <p:nvPr>
            <p:ph idx="12" type="sldNum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00" lIns="93025" spcFirstLastPara="1" rIns="93025" wrap="square" tIns="465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sz="13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45" name="Google Shape;245;p22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6" name="Google Shape;246;p22:notes"/>
          <p:cNvSpPr txBox="1"/>
          <p:nvPr>
            <p:ph idx="1" type="body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3:notes"/>
          <p:cNvSpPr txBox="1"/>
          <p:nvPr>
            <p:ph idx="12" type="sldNum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00" lIns="93025" spcFirstLastPara="1" rIns="93025" wrap="square" tIns="465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sz="13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52" name="Google Shape;252;p23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3" name="Google Shape;253;p23:notes"/>
          <p:cNvSpPr txBox="1"/>
          <p:nvPr>
            <p:ph idx="1" type="body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4:notes"/>
          <p:cNvSpPr txBox="1"/>
          <p:nvPr>
            <p:ph idx="12" type="sldNum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00" lIns="93025" spcFirstLastPara="1" rIns="93025" wrap="square" tIns="465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sz="13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59" name="Google Shape;259;p24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0" name="Google Shape;260;p24:notes"/>
          <p:cNvSpPr txBox="1"/>
          <p:nvPr>
            <p:ph idx="1" type="body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5:notes"/>
          <p:cNvSpPr txBox="1"/>
          <p:nvPr>
            <p:ph idx="12" type="sldNum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00" lIns="93025" spcFirstLastPara="1" rIns="93025" wrap="square" tIns="465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sz="13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67" name="Google Shape;267;p25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8" name="Google Shape;268;p25:notes"/>
          <p:cNvSpPr txBox="1"/>
          <p:nvPr>
            <p:ph idx="1" type="body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6:notes"/>
          <p:cNvSpPr txBox="1"/>
          <p:nvPr>
            <p:ph idx="12" type="sldNum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00" lIns="93025" spcFirstLastPara="1" rIns="93025" wrap="square" tIns="465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sz="13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74" name="Google Shape;274;p26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5" name="Google Shape;275;p26:notes"/>
          <p:cNvSpPr txBox="1"/>
          <p:nvPr>
            <p:ph idx="1" type="body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7:notes"/>
          <p:cNvSpPr txBox="1"/>
          <p:nvPr>
            <p:ph idx="12" type="sldNum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00" lIns="93025" spcFirstLastPara="1" rIns="93025" wrap="square" tIns="465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sz="13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83" name="Google Shape;283;p27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4" name="Google Shape;284;p27:notes"/>
          <p:cNvSpPr txBox="1"/>
          <p:nvPr>
            <p:ph idx="1" type="body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8:notes"/>
          <p:cNvSpPr txBox="1"/>
          <p:nvPr>
            <p:ph idx="12" type="sldNum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00" lIns="93025" spcFirstLastPara="1" rIns="93025" wrap="square" tIns="465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sz="13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91" name="Google Shape;291;p28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2" name="Google Shape;292;p28:notes"/>
          <p:cNvSpPr txBox="1"/>
          <p:nvPr>
            <p:ph idx="1" type="body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9:notes"/>
          <p:cNvSpPr txBox="1"/>
          <p:nvPr>
            <p:ph idx="12" type="sldNum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00" lIns="93025" spcFirstLastPara="1" rIns="93025" wrap="square" tIns="465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sz="13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98" name="Google Shape;298;p29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9" name="Google Shape;299;p29:notes"/>
          <p:cNvSpPr txBox="1"/>
          <p:nvPr>
            <p:ph idx="1" type="body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30:notes"/>
          <p:cNvSpPr txBox="1"/>
          <p:nvPr>
            <p:ph idx="12" type="sldNum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00" lIns="93025" spcFirstLastPara="1" rIns="93025" wrap="square" tIns="465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sz="13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05" name="Google Shape;305;p30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6" name="Google Shape;306;p30:notes"/>
          <p:cNvSpPr txBox="1"/>
          <p:nvPr>
            <p:ph idx="1" type="body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31:notes"/>
          <p:cNvSpPr txBox="1"/>
          <p:nvPr>
            <p:ph idx="12" type="sldNum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00" lIns="93025" spcFirstLastPara="1" rIns="93025" wrap="square" tIns="465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sz="13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12" name="Google Shape;312;p31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3" name="Google Shape;313;p31:notes"/>
          <p:cNvSpPr txBox="1"/>
          <p:nvPr>
            <p:ph idx="1" type="body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6500" lIns="93025" spcFirstLastPara="1" rIns="93025" wrap="square" tIns="465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r>
              <a:rPr lang="en-US"/>
              <a:t>Recovery from corruption is similar to recovery from failed disk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r>
              <a:rPr lang="en-US"/>
              <a:t>Otherwise all blocks of disk must be read and compared with mirror/parity block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32:notes"/>
          <p:cNvSpPr txBox="1"/>
          <p:nvPr>
            <p:ph idx="12" type="sldNum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00" lIns="93025" spcFirstLastPara="1" rIns="93025" wrap="square" tIns="465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sz="13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19" name="Google Shape;319;p32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0" name="Google Shape;320;p32:notes"/>
          <p:cNvSpPr txBox="1"/>
          <p:nvPr>
            <p:ph idx="1" type="body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33:notes"/>
          <p:cNvSpPr txBox="1"/>
          <p:nvPr>
            <p:ph idx="12" type="sldNum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00" lIns="93025" spcFirstLastPara="1" rIns="93025" wrap="square" tIns="465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sz="13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27" name="Google Shape;327;p33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8" name="Google Shape;328;p33:notes"/>
          <p:cNvSpPr txBox="1"/>
          <p:nvPr>
            <p:ph idx="1" type="body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34:notes"/>
          <p:cNvSpPr txBox="1"/>
          <p:nvPr>
            <p:ph idx="12" type="sldNum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00" lIns="93025" spcFirstLastPara="1" rIns="93025" wrap="square" tIns="465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sz="13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46" name="Google Shape;346;p34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7" name="Google Shape;347;p34:notes"/>
          <p:cNvSpPr txBox="1"/>
          <p:nvPr>
            <p:ph idx="1" type="body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5:notes"/>
          <p:cNvSpPr txBox="1"/>
          <p:nvPr>
            <p:ph idx="12" type="sldNum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00" lIns="93025" spcFirstLastPara="1" rIns="93025" wrap="square" tIns="465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sz="13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53" name="Google Shape;353;p35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4" name="Google Shape;354;p35:notes"/>
          <p:cNvSpPr txBox="1"/>
          <p:nvPr>
            <p:ph idx="1" type="body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36:notes"/>
          <p:cNvSpPr txBox="1"/>
          <p:nvPr>
            <p:ph idx="12" type="sldNum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00" lIns="93025" spcFirstLastPara="1" rIns="93025" wrap="square" tIns="465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sz="13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59" name="Google Shape;359;p36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0" name="Google Shape;360;p36:notes"/>
          <p:cNvSpPr txBox="1"/>
          <p:nvPr>
            <p:ph idx="1" type="body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37:notes"/>
          <p:cNvSpPr txBox="1"/>
          <p:nvPr>
            <p:ph idx="12" type="sldNum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00" lIns="93025" spcFirstLastPara="1" rIns="93025" wrap="square" tIns="465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sz="13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66" name="Google Shape;366;p37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7" name="Google Shape;367;p37:notes"/>
          <p:cNvSpPr txBox="1"/>
          <p:nvPr>
            <p:ph idx="1" type="body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38:notes"/>
          <p:cNvSpPr txBox="1"/>
          <p:nvPr>
            <p:ph idx="1" type="body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</p:spPr>
        <p:txBody>
          <a:bodyPr anchorCtr="0" anchor="t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38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www.db-book.com/" TargetMode="External"/><Relationship Id="rId3" Type="http://schemas.openxmlformats.org/officeDocument/2006/relationships/image" Target="../media/image4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>
  <p:cSld name="Title Slide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"/>
          <p:cNvSpPr txBox="1"/>
          <p:nvPr/>
        </p:nvSpPr>
        <p:spPr>
          <a:xfrm>
            <a:off x="2674938" y="5726113"/>
            <a:ext cx="3694112" cy="79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00206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Database System Concepts, 7</a:t>
            </a:r>
            <a:r>
              <a:rPr b="1" baseline="30000" lang="en-US" sz="1600">
                <a:solidFill>
                  <a:srgbClr val="00206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</a:t>
            </a:r>
            <a:r>
              <a:rPr b="1" lang="en-US" sz="1600">
                <a:solidFill>
                  <a:srgbClr val="00206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Ed</a:t>
            </a:r>
            <a:r>
              <a:rPr lang="en-US" sz="1600">
                <a:solidFill>
                  <a:srgbClr val="00206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/>
          </a:p>
          <a:p>
            <a:pPr indent="0" lvl="0" marL="0" marR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0206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©Silberschatz, Korth and Sudarshan</a:t>
            </a:r>
            <a:br>
              <a:rPr b="1" lang="en-US" sz="1200">
                <a:solidFill>
                  <a:srgbClr val="002060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lang="en-US" sz="1200">
                <a:solidFill>
                  <a:srgbClr val="00206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See </a:t>
            </a:r>
            <a:r>
              <a:rPr b="1" lang="en-US" sz="1200" u="sng">
                <a:solidFill>
                  <a:schemeClr val="hlink"/>
                </a:solidFill>
                <a:latin typeface="Helvetica Neue"/>
                <a:ea typeface="Helvetica Neue"/>
                <a:cs typeface="Helvetica Neue"/>
                <a:sym typeface="Helvetica Neue"/>
                <a:hlinkClick r:id="rId2"/>
              </a:rPr>
              <a:t>www.db-book.com</a:t>
            </a:r>
            <a:r>
              <a:rPr b="1" lang="en-US" sz="1200">
                <a:solidFill>
                  <a:srgbClr val="00206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for conditions on re-use </a:t>
            </a:r>
            <a:endParaRPr/>
          </a:p>
        </p:txBody>
      </p:sp>
      <p:sp>
        <p:nvSpPr>
          <p:cNvPr id="20" name="Google Shape;20;p2"/>
          <p:cNvSpPr txBox="1"/>
          <p:nvPr>
            <p:ph type="ctrTitle"/>
          </p:nvPr>
        </p:nvSpPr>
        <p:spPr>
          <a:xfrm>
            <a:off x="685800" y="22860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002060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"/>
          <p:cNvSpPr txBox="1"/>
          <p:nvPr>
            <p:ph idx="11" type="ftr"/>
          </p:nvPr>
        </p:nvSpPr>
        <p:spPr>
          <a:xfrm>
            <a:off x="2862263" y="5780088"/>
            <a:ext cx="34480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800"/>
              </a:spcBef>
              <a:spcAft>
                <a:spcPts val="0"/>
              </a:spcAft>
              <a:buSzPts val="1400"/>
              <a:buNone/>
              <a:defRPr sz="1600">
                <a:solidFill>
                  <a:srgbClr val="57896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22" name="Google Shape;22;p2"/>
          <p:cNvSpPr txBox="1"/>
          <p:nvPr>
            <p:ph idx="12" type="sldNum"/>
          </p:nvPr>
        </p:nvSpPr>
        <p:spPr>
          <a:xfrm>
            <a:off x="6596063" y="62182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57896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57896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57896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57896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57896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57896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57896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57896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57896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Cover-6Ed" id="23" name="Google Shape;23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858" y="0"/>
            <a:ext cx="1331269" cy="17002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" type="body"/>
          </p:nvPr>
        </p:nvSpPr>
        <p:spPr>
          <a:xfrm>
            <a:off x="814388" y="1093788"/>
            <a:ext cx="7661275" cy="4903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1315" lvl="0" marL="457200" algn="l">
              <a:spcBef>
                <a:spcPts val="665"/>
              </a:spcBef>
              <a:spcAft>
                <a:spcPts val="0"/>
              </a:spcAft>
              <a:buSzPts val="2090"/>
              <a:buFont typeface="Noto Sans Symbols"/>
              <a:buChar char="▪"/>
              <a:defRPr sz="1900"/>
            </a:lvl1pPr>
            <a:lvl2pPr indent="-354330" lvl="1" marL="914400" algn="l">
              <a:spcBef>
                <a:spcPts val="630"/>
              </a:spcBef>
              <a:spcAft>
                <a:spcPts val="0"/>
              </a:spcAft>
              <a:buSzPts val="1980"/>
              <a:buFont typeface="Arial"/>
              <a:buChar char="•"/>
              <a:defRPr/>
            </a:lvl2pPr>
            <a:lvl3pPr indent="-325755" lvl="2" marL="1371600" algn="l">
              <a:spcBef>
                <a:spcPts val="630"/>
              </a:spcBef>
              <a:spcAft>
                <a:spcPts val="0"/>
              </a:spcAft>
              <a:buSzPts val="1530"/>
              <a:buFont typeface="Noto Sans Symbols"/>
              <a:buChar char="▪"/>
              <a:defRPr/>
            </a:lvl3pPr>
            <a:lvl4pPr indent="-342900" lvl="3" marL="1828800" algn="l">
              <a:spcBef>
                <a:spcPts val="630"/>
              </a:spcBef>
              <a:spcAft>
                <a:spcPts val="0"/>
              </a:spcAft>
              <a:buSzPts val="1800"/>
              <a:buFont typeface="Arial"/>
              <a:buChar char="•"/>
              <a:defRPr/>
            </a:lvl4pPr>
            <a:lvl5pPr indent="-314325" lvl="4" marL="2286000" algn="l">
              <a:spcBef>
                <a:spcPts val="630"/>
              </a:spcBef>
              <a:spcAft>
                <a:spcPts val="0"/>
              </a:spcAft>
              <a:buSzPts val="1350"/>
              <a:buFont typeface="Noto Sans Symbols"/>
              <a:buChar char="▪"/>
              <a:defRPr/>
            </a:lvl5pPr>
            <a:lvl6pPr indent="-314325" lvl="5" marL="2743200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6pPr>
            <a:lvl7pPr indent="-314325" lvl="6" marL="3200400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7pPr>
            <a:lvl8pPr indent="-314325" lvl="7" marL="3657600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8pPr>
            <a:lvl9pPr indent="-314325" lvl="8" marL="4114800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6553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700"/>
              </a:spcBef>
              <a:spcAft>
                <a:spcPts val="0"/>
              </a:spcAft>
              <a:buSzPts val="2000"/>
              <a:buNone/>
              <a:defRPr sz="2000"/>
            </a:lvl1pPr>
            <a:lvl2pPr indent="-228600" lvl="1" marL="914400" algn="l">
              <a:spcBef>
                <a:spcPts val="630"/>
              </a:spcBef>
              <a:spcAft>
                <a:spcPts val="0"/>
              </a:spcAft>
              <a:buSzPts val="1710"/>
              <a:buNone/>
              <a:defRPr sz="1800"/>
            </a:lvl2pPr>
            <a:lvl3pPr indent="-228600" lvl="2" marL="1371600" algn="l">
              <a:spcBef>
                <a:spcPts val="560"/>
              </a:spcBef>
              <a:spcAft>
                <a:spcPts val="0"/>
              </a:spcAft>
              <a:buSzPts val="1360"/>
              <a:buNone/>
              <a:defRPr sz="1600"/>
            </a:lvl3pPr>
            <a:lvl4pPr indent="-228600" lvl="3" marL="1828800" algn="l">
              <a:spcBef>
                <a:spcPts val="490"/>
              </a:spcBef>
              <a:spcAft>
                <a:spcPts val="0"/>
              </a:spcAft>
              <a:buSzPts val="1400"/>
              <a:buNone/>
              <a:defRPr sz="1400"/>
            </a:lvl4pPr>
            <a:lvl5pPr indent="-228600" lvl="4" marL="2286000" algn="l">
              <a:spcBef>
                <a:spcPts val="490"/>
              </a:spcBef>
              <a:spcAft>
                <a:spcPts val="0"/>
              </a:spcAft>
              <a:buSzPts val="1050"/>
              <a:buFont typeface="Helvetica Neue"/>
              <a:buNone/>
              <a:defRPr sz="1400"/>
            </a:lvl5pPr>
            <a:lvl6pPr indent="-228600" lvl="5" marL="2743200" algn="l">
              <a:spcBef>
                <a:spcPts val="490"/>
              </a:spcBef>
              <a:spcAft>
                <a:spcPts val="0"/>
              </a:spcAft>
              <a:buSzPts val="1050"/>
              <a:buFont typeface="Helvetica Neue"/>
              <a:buNone/>
              <a:defRPr sz="1400"/>
            </a:lvl6pPr>
            <a:lvl7pPr indent="-228600" lvl="6" marL="3200400" algn="l">
              <a:spcBef>
                <a:spcPts val="490"/>
              </a:spcBef>
              <a:spcAft>
                <a:spcPts val="0"/>
              </a:spcAft>
              <a:buSzPts val="1050"/>
              <a:buFont typeface="Helvetica Neue"/>
              <a:buNone/>
              <a:defRPr sz="1400"/>
            </a:lvl7pPr>
            <a:lvl8pPr indent="-228600" lvl="7" marL="3657600" algn="l">
              <a:spcBef>
                <a:spcPts val="490"/>
              </a:spcBef>
              <a:spcAft>
                <a:spcPts val="0"/>
              </a:spcAft>
              <a:buSzPts val="1050"/>
              <a:buFont typeface="Helvetica Neue"/>
              <a:buNone/>
              <a:defRPr sz="1400"/>
            </a:lvl8pPr>
            <a:lvl9pPr indent="-228600" lvl="8" marL="4114800" algn="l">
              <a:spcBef>
                <a:spcPts val="490"/>
              </a:spcBef>
              <a:spcAft>
                <a:spcPts val="0"/>
              </a:spcAft>
              <a:buSzPts val="1050"/>
              <a:buFont typeface="Helvetica Neue"/>
              <a:buNone/>
              <a:defRPr sz="1400"/>
            </a:lvl9pPr>
          </a:lstStyle>
          <a:p/>
        </p:txBody>
      </p:sp>
      <p:sp>
        <p:nvSpPr>
          <p:cNvPr id="33" name="Google Shape;33;p5"/>
          <p:cNvSpPr txBox="1"/>
          <p:nvPr>
            <p:ph idx="12" type="sldNum"/>
          </p:nvPr>
        </p:nvSpPr>
        <p:spPr>
          <a:xfrm>
            <a:off x="6553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1" type="body"/>
          </p:nvPr>
        </p:nvSpPr>
        <p:spPr>
          <a:xfrm>
            <a:off x="814388" y="1093788"/>
            <a:ext cx="3754437" cy="4903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980"/>
              </a:spcBef>
              <a:spcAft>
                <a:spcPts val="0"/>
              </a:spcAft>
              <a:buSzPts val="2800"/>
              <a:buChar char="●"/>
              <a:defRPr sz="2800"/>
            </a:lvl1pPr>
            <a:lvl2pPr indent="-373380" lvl="1" marL="914400" algn="l">
              <a:spcBef>
                <a:spcPts val="840"/>
              </a:spcBef>
              <a:spcAft>
                <a:spcPts val="0"/>
              </a:spcAft>
              <a:buSzPts val="2280"/>
              <a:buChar char="●"/>
              <a:defRPr sz="2400"/>
            </a:lvl2pPr>
            <a:lvl3pPr indent="-336550" lvl="2" marL="1371600" algn="l">
              <a:spcBef>
                <a:spcPts val="700"/>
              </a:spcBef>
              <a:spcAft>
                <a:spcPts val="0"/>
              </a:spcAft>
              <a:buSzPts val="1700"/>
              <a:buChar char="4"/>
              <a:defRPr sz="2000"/>
            </a:lvl3pPr>
            <a:lvl4pPr indent="-342900" lvl="3" marL="1828800" algn="l">
              <a:spcBef>
                <a:spcPts val="630"/>
              </a:spcBef>
              <a:spcAft>
                <a:spcPts val="0"/>
              </a:spcAft>
              <a:buSzPts val="1800"/>
              <a:buChar char="–"/>
              <a:defRPr sz="1800"/>
            </a:lvl4pPr>
            <a:lvl5pPr indent="-314325" lvl="4" marL="2286000" algn="l">
              <a:spcBef>
                <a:spcPts val="630"/>
              </a:spcBef>
              <a:spcAft>
                <a:spcPts val="0"/>
              </a:spcAft>
              <a:buSzPts val="1350"/>
              <a:buFont typeface="Helvetica Neue"/>
              <a:buChar char="»"/>
              <a:defRPr sz="1800"/>
            </a:lvl5pPr>
            <a:lvl6pPr indent="-314325" lvl="5" marL="2743200" algn="l">
              <a:spcBef>
                <a:spcPts val="630"/>
              </a:spcBef>
              <a:spcAft>
                <a:spcPts val="0"/>
              </a:spcAft>
              <a:buSzPts val="1350"/>
              <a:buFont typeface="Helvetica Neue"/>
              <a:buChar char="»"/>
              <a:defRPr sz="1800"/>
            </a:lvl6pPr>
            <a:lvl7pPr indent="-314325" lvl="6" marL="3200400" algn="l">
              <a:spcBef>
                <a:spcPts val="630"/>
              </a:spcBef>
              <a:spcAft>
                <a:spcPts val="0"/>
              </a:spcAft>
              <a:buSzPts val="1350"/>
              <a:buFont typeface="Helvetica Neue"/>
              <a:buChar char="»"/>
              <a:defRPr sz="1800"/>
            </a:lvl7pPr>
            <a:lvl8pPr indent="-314325" lvl="7" marL="3657600" algn="l">
              <a:spcBef>
                <a:spcPts val="630"/>
              </a:spcBef>
              <a:spcAft>
                <a:spcPts val="0"/>
              </a:spcAft>
              <a:buSzPts val="1350"/>
              <a:buFont typeface="Helvetica Neue"/>
              <a:buChar char="»"/>
              <a:defRPr sz="1800"/>
            </a:lvl8pPr>
            <a:lvl9pPr indent="-314325" lvl="8" marL="4114800" algn="l">
              <a:spcBef>
                <a:spcPts val="630"/>
              </a:spcBef>
              <a:spcAft>
                <a:spcPts val="0"/>
              </a:spcAft>
              <a:buSzPts val="1350"/>
              <a:buFont typeface="Helvetica Neue"/>
              <a:buChar char="»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2" type="body"/>
          </p:nvPr>
        </p:nvSpPr>
        <p:spPr>
          <a:xfrm>
            <a:off x="4721225" y="1093788"/>
            <a:ext cx="3754438" cy="4903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980"/>
              </a:spcBef>
              <a:spcAft>
                <a:spcPts val="0"/>
              </a:spcAft>
              <a:buSzPts val="2800"/>
              <a:buChar char="●"/>
              <a:defRPr sz="2800"/>
            </a:lvl1pPr>
            <a:lvl2pPr indent="-373380" lvl="1" marL="914400" algn="l">
              <a:spcBef>
                <a:spcPts val="840"/>
              </a:spcBef>
              <a:spcAft>
                <a:spcPts val="0"/>
              </a:spcAft>
              <a:buSzPts val="2280"/>
              <a:buChar char="●"/>
              <a:defRPr sz="2400"/>
            </a:lvl2pPr>
            <a:lvl3pPr indent="-336550" lvl="2" marL="1371600" algn="l">
              <a:spcBef>
                <a:spcPts val="700"/>
              </a:spcBef>
              <a:spcAft>
                <a:spcPts val="0"/>
              </a:spcAft>
              <a:buSzPts val="1700"/>
              <a:buChar char="4"/>
              <a:defRPr sz="2000"/>
            </a:lvl3pPr>
            <a:lvl4pPr indent="-342900" lvl="3" marL="1828800" algn="l">
              <a:spcBef>
                <a:spcPts val="630"/>
              </a:spcBef>
              <a:spcAft>
                <a:spcPts val="0"/>
              </a:spcAft>
              <a:buSzPts val="1800"/>
              <a:buChar char="–"/>
              <a:defRPr sz="1800"/>
            </a:lvl4pPr>
            <a:lvl5pPr indent="-314325" lvl="4" marL="2286000" algn="l">
              <a:spcBef>
                <a:spcPts val="630"/>
              </a:spcBef>
              <a:spcAft>
                <a:spcPts val="0"/>
              </a:spcAft>
              <a:buSzPts val="1350"/>
              <a:buFont typeface="Helvetica Neue"/>
              <a:buChar char="»"/>
              <a:defRPr sz="1800"/>
            </a:lvl5pPr>
            <a:lvl6pPr indent="-314325" lvl="5" marL="2743200" algn="l">
              <a:spcBef>
                <a:spcPts val="630"/>
              </a:spcBef>
              <a:spcAft>
                <a:spcPts val="0"/>
              </a:spcAft>
              <a:buSzPts val="1350"/>
              <a:buFont typeface="Helvetica Neue"/>
              <a:buChar char="»"/>
              <a:defRPr sz="1800"/>
            </a:lvl6pPr>
            <a:lvl7pPr indent="-314325" lvl="6" marL="3200400" algn="l">
              <a:spcBef>
                <a:spcPts val="630"/>
              </a:spcBef>
              <a:spcAft>
                <a:spcPts val="0"/>
              </a:spcAft>
              <a:buSzPts val="1350"/>
              <a:buFont typeface="Helvetica Neue"/>
              <a:buChar char="»"/>
              <a:defRPr sz="1800"/>
            </a:lvl7pPr>
            <a:lvl8pPr indent="-314325" lvl="7" marL="3657600" algn="l">
              <a:spcBef>
                <a:spcPts val="630"/>
              </a:spcBef>
              <a:spcAft>
                <a:spcPts val="0"/>
              </a:spcAft>
              <a:buSzPts val="1350"/>
              <a:buFont typeface="Helvetica Neue"/>
              <a:buChar char="»"/>
              <a:defRPr sz="1800"/>
            </a:lvl8pPr>
            <a:lvl9pPr indent="-314325" lvl="8" marL="4114800" algn="l">
              <a:spcBef>
                <a:spcPts val="630"/>
              </a:spcBef>
              <a:spcAft>
                <a:spcPts val="0"/>
              </a:spcAft>
              <a:buSzPts val="1350"/>
              <a:buFont typeface="Helvetica Neue"/>
              <a:buChar char="»"/>
              <a:defRPr sz="1800"/>
            </a:lvl9pPr>
          </a:lstStyle>
          <a:p/>
        </p:txBody>
      </p:sp>
      <p:sp>
        <p:nvSpPr>
          <p:cNvPr id="38" name="Google Shape;38;p6"/>
          <p:cNvSpPr txBox="1"/>
          <p:nvPr>
            <p:ph idx="12" type="sldNum"/>
          </p:nvPr>
        </p:nvSpPr>
        <p:spPr>
          <a:xfrm>
            <a:off x="6553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840"/>
              </a:spcBef>
              <a:spcAft>
                <a:spcPts val="0"/>
              </a:spcAft>
              <a:buSzPts val="2400"/>
              <a:buNone/>
              <a:defRPr b="1" sz="2400"/>
            </a:lvl1pPr>
            <a:lvl2pPr indent="-228600" lvl="1" marL="914400" algn="l">
              <a:spcBef>
                <a:spcPts val="700"/>
              </a:spcBef>
              <a:spcAft>
                <a:spcPts val="0"/>
              </a:spcAft>
              <a:buSzPts val="1900"/>
              <a:buNone/>
              <a:defRPr b="1" sz="2000"/>
            </a:lvl2pPr>
            <a:lvl3pPr indent="-228600" lvl="2" marL="1371600" algn="l">
              <a:spcBef>
                <a:spcPts val="630"/>
              </a:spcBef>
              <a:spcAft>
                <a:spcPts val="0"/>
              </a:spcAft>
              <a:buSzPts val="1530"/>
              <a:buNone/>
              <a:defRPr b="1" sz="1800"/>
            </a:lvl3pPr>
            <a:lvl4pPr indent="-228600" lvl="3" marL="1828800" algn="l">
              <a:spcBef>
                <a:spcPts val="56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None/>
              <a:defRPr b="1" sz="1600"/>
            </a:lvl5pPr>
            <a:lvl6pPr indent="-228600" lvl="5" marL="27432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None/>
              <a:defRPr b="1" sz="1600"/>
            </a:lvl6pPr>
            <a:lvl7pPr indent="-228600" lvl="6" marL="32004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None/>
              <a:defRPr b="1" sz="1600"/>
            </a:lvl7pPr>
            <a:lvl8pPr indent="-228600" lvl="7" marL="36576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None/>
              <a:defRPr b="1" sz="1600"/>
            </a:lvl8pPr>
            <a:lvl9pPr indent="-228600" lvl="8" marL="41148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None/>
              <a:defRPr b="1" sz="1600"/>
            </a:lvl9pPr>
          </a:lstStyle>
          <a:p/>
        </p:txBody>
      </p:sp>
      <p:sp>
        <p:nvSpPr>
          <p:cNvPr id="42" name="Google Shape;42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840"/>
              </a:spcBef>
              <a:spcAft>
                <a:spcPts val="0"/>
              </a:spcAft>
              <a:buSzPts val="2400"/>
              <a:buChar char="●"/>
              <a:defRPr sz="2400"/>
            </a:lvl1pPr>
            <a:lvl2pPr indent="-349250" lvl="1" marL="914400" algn="l">
              <a:spcBef>
                <a:spcPts val="700"/>
              </a:spcBef>
              <a:spcAft>
                <a:spcPts val="0"/>
              </a:spcAft>
              <a:buSzPts val="1900"/>
              <a:buChar char="●"/>
              <a:defRPr sz="2000"/>
            </a:lvl2pPr>
            <a:lvl3pPr indent="-325755" lvl="2" marL="1371600" algn="l">
              <a:spcBef>
                <a:spcPts val="630"/>
              </a:spcBef>
              <a:spcAft>
                <a:spcPts val="0"/>
              </a:spcAft>
              <a:buSzPts val="1530"/>
              <a:buChar char="4"/>
              <a:defRPr sz="1800"/>
            </a:lvl3pPr>
            <a:lvl4pPr indent="-330200" lvl="3" marL="1828800" algn="l">
              <a:spcBef>
                <a:spcPts val="560"/>
              </a:spcBef>
              <a:spcAft>
                <a:spcPts val="0"/>
              </a:spcAft>
              <a:buSzPts val="1600"/>
              <a:buChar char="–"/>
              <a:defRPr sz="1600"/>
            </a:lvl4pPr>
            <a:lvl5pPr indent="-304800" lvl="4" marL="22860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Char char="»"/>
              <a:defRPr sz="1600"/>
            </a:lvl5pPr>
            <a:lvl6pPr indent="-304800" lvl="5" marL="27432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Char char="»"/>
              <a:defRPr sz="1600"/>
            </a:lvl6pPr>
            <a:lvl7pPr indent="-304800" lvl="6" marL="32004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Char char="»"/>
              <a:defRPr sz="1600"/>
            </a:lvl7pPr>
            <a:lvl8pPr indent="-304800" lvl="7" marL="36576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Char char="»"/>
              <a:defRPr sz="1600"/>
            </a:lvl8pPr>
            <a:lvl9pPr indent="-304800" lvl="8" marL="41148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Char char="»"/>
              <a:defRPr sz="1600"/>
            </a:lvl9pPr>
          </a:lstStyle>
          <a:p/>
        </p:txBody>
      </p:sp>
      <p:sp>
        <p:nvSpPr>
          <p:cNvPr id="43" name="Google Shape;43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840"/>
              </a:spcBef>
              <a:spcAft>
                <a:spcPts val="0"/>
              </a:spcAft>
              <a:buSzPts val="2400"/>
              <a:buNone/>
              <a:defRPr b="1" sz="2400"/>
            </a:lvl1pPr>
            <a:lvl2pPr indent="-228600" lvl="1" marL="914400" algn="l">
              <a:spcBef>
                <a:spcPts val="700"/>
              </a:spcBef>
              <a:spcAft>
                <a:spcPts val="0"/>
              </a:spcAft>
              <a:buSzPts val="1900"/>
              <a:buNone/>
              <a:defRPr b="1" sz="2000"/>
            </a:lvl2pPr>
            <a:lvl3pPr indent="-228600" lvl="2" marL="1371600" algn="l">
              <a:spcBef>
                <a:spcPts val="630"/>
              </a:spcBef>
              <a:spcAft>
                <a:spcPts val="0"/>
              </a:spcAft>
              <a:buSzPts val="1530"/>
              <a:buNone/>
              <a:defRPr b="1" sz="1800"/>
            </a:lvl3pPr>
            <a:lvl4pPr indent="-228600" lvl="3" marL="1828800" algn="l">
              <a:spcBef>
                <a:spcPts val="56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None/>
              <a:defRPr b="1" sz="1600"/>
            </a:lvl5pPr>
            <a:lvl6pPr indent="-228600" lvl="5" marL="27432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None/>
              <a:defRPr b="1" sz="1600"/>
            </a:lvl6pPr>
            <a:lvl7pPr indent="-228600" lvl="6" marL="32004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None/>
              <a:defRPr b="1" sz="1600"/>
            </a:lvl7pPr>
            <a:lvl8pPr indent="-228600" lvl="7" marL="36576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None/>
              <a:defRPr b="1" sz="1600"/>
            </a:lvl8pPr>
            <a:lvl9pPr indent="-228600" lvl="8" marL="41148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None/>
              <a:defRPr b="1" sz="1600"/>
            </a:lvl9pPr>
          </a:lstStyle>
          <a:p/>
        </p:txBody>
      </p:sp>
      <p:sp>
        <p:nvSpPr>
          <p:cNvPr id="44" name="Google Shape;44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840"/>
              </a:spcBef>
              <a:spcAft>
                <a:spcPts val="0"/>
              </a:spcAft>
              <a:buSzPts val="2400"/>
              <a:buChar char="●"/>
              <a:defRPr sz="2400"/>
            </a:lvl1pPr>
            <a:lvl2pPr indent="-349250" lvl="1" marL="914400" algn="l">
              <a:spcBef>
                <a:spcPts val="700"/>
              </a:spcBef>
              <a:spcAft>
                <a:spcPts val="0"/>
              </a:spcAft>
              <a:buSzPts val="1900"/>
              <a:buChar char="●"/>
              <a:defRPr sz="2000"/>
            </a:lvl2pPr>
            <a:lvl3pPr indent="-325755" lvl="2" marL="1371600" algn="l">
              <a:spcBef>
                <a:spcPts val="630"/>
              </a:spcBef>
              <a:spcAft>
                <a:spcPts val="0"/>
              </a:spcAft>
              <a:buSzPts val="1530"/>
              <a:buChar char="4"/>
              <a:defRPr sz="1800"/>
            </a:lvl3pPr>
            <a:lvl4pPr indent="-330200" lvl="3" marL="1828800" algn="l">
              <a:spcBef>
                <a:spcPts val="560"/>
              </a:spcBef>
              <a:spcAft>
                <a:spcPts val="0"/>
              </a:spcAft>
              <a:buSzPts val="1600"/>
              <a:buChar char="–"/>
              <a:defRPr sz="1600"/>
            </a:lvl4pPr>
            <a:lvl5pPr indent="-304800" lvl="4" marL="22860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Char char="»"/>
              <a:defRPr sz="1600"/>
            </a:lvl5pPr>
            <a:lvl6pPr indent="-304800" lvl="5" marL="27432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Char char="»"/>
              <a:defRPr sz="1600"/>
            </a:lvl6pPr>
            <a:lvl7pPr indent="-304800" lvl="6" marL="32004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Char char="»"/>
              <a:defRPr sz="1600"/>
            </a:lvl7pPr>
            <a:lvl8pPr indent="-304800" lvl="7" marL="36576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Char char="»"/>
              <a:defRPr sz="1600"/>
            </a:lvl8pPr>
            <a:lvl9pPr indent="-304800" lvl="8" marL="41148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Char char="»"/>
              <a:defRPr sz="1600"/>
            </a:lvl9pPr>
          </a:lstStyle>
          <a:p/>
        </p:txBody>
      </p:sp>
      <p:sp>
        <p:nvSpPr>
          <p:cNvPr id="45" name="Google Shape;45;p7"/>
          <p:cNvSpPr txBox="1"/>
          <p:nvPr>
            <p:ph idx="12" type="sldNum"/>
          </p:nvPr>
        </p:nvSpPr>
        <p:spPr>
          <a:xfrm>
            <a:off x="6553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"/>
          <p:cNvSpPr txBox="1"/>
          <p:nvPr>
            <p:ph idx="12" type="sldNum"/>
          </p:nvPr>
        </p:nvSpPr>
        <p:spPr>
          <a:xfrm>
            <a:off x="6553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spcBef>
                <a:spcPts val="1120"/>
              </a:spcBef>
              <a:spcAft>
                <a:spcPts val="0"/>
              </a:spcAft>
              <a:buSzPts val="3200"/>
              <a:buChar char="●"/>
              <a:defRPr sz="3200"/>
            </a:lvl1pPr>
            <a:lvl2pPr indent="-397510" lvl="1" marL="914400" algn="l">
              <a:spcBef>
                <a:spcPts val="980"/>
              </a:spcBef>
              <a:spcAft>
                <a:spcPts val="0"/>
              </a:spcAft>
              <a:buSzPts val="2660"/>
              <a:buChar char="●"/>
              <a:defRPr sz="2800"/>
            </a:lvl2pPr>
            <a:lvl3pPr indent="-358139" lvl="2" marL="1371600" algn="l">
              <a:spcBef>
                <a:spcPts val="840"/>
              </a:spcBef>
              <a:spcAft>
                <a:spcPts val="0"/>
              </a:spcAft>
              <a:buSzPts val="2040"/>
              <a:buChar char="4"/>
              <a:defRPr sz="2400"/>
            </a:lvl3pPr>
            <a:lvl4pPr indent="-355600" lvl="3" marL="1828800" algn="l">
              <a:spcBef>
                <a:spcPts val="700"/>
              </a:spcBef>
              <a:spcAft>
                <a:spcPts val="0"/>
              </a:spcAft>
              <a:buSzPts val="2000"/>
              <a:buChar char="–"/>
              <a:defRPr sz="2000"/>
            </a:lvl4pPr>
            <a:lvl5pPr indent="-323850" lvl="4" marL="2286000" algn="l">
              <a:spcBef>
                <a:spcPts val="700"/>
              </a:spcBef>
              <a:spcAft>
                <a:spcPts val="0"/>
              </a:spcAft>
              <a:buSzPts val="1500"/>
              <a:buFont typeface="Helvetica Neue"/>
              <a:buChar char="»"/>
              <a:defRPr sz="2000"/>
            </a:lvl5pPr>
            <a:lvl6pPr indent="-323850" lvl="5" marL="2743200" algn="l">
              <a:spcBef>
                <a:spcPts val="700"/>
              </a:spcBef>
              <a:spcAft>
                <a:spcPts val="0"/>
              </a:spcAft>
              <a:buSzPts val="1500"/>
              <a:buFont typeface="Helvetica Neue"/>
              <a:buChar char="»"/>
              <a:defRPr sz="2000"/>
            </a:lvl6pPr>
            <a:lvl7pPr indent="-323850" lvl="6" marL="3200400" algn="l">
              <a:spcBef>
                <a:spcPts val="700"/>
              </a:spcBef>
              <a:spcAft>
                <a:spcPts val="0"/>
              </a:spcAft>
              <a:buSzPts val="1500"/>
              <a:buFont typeface="Helvetica Neue"/>
              <a:buChar char="»"/>
              <a:defRPr sz="2000"/>
            </a:lvl7pPr>
            <a:lvl8pPr indent="-323850" lvl="7" marL="3657600" algn="l">
              <a:spcBef>
                <a:spcPts val="700"/>
              </a:spcBef>
              <a:spcAft>
                <a:spcPts val="0"/>
              </a:spcAft>
              <a:buSzPts val="1500"/>
              <a:buFont typeface="Helvetica Neue"/>
              <a:buChar char="»"/>
              <a:defRPr sz="2000"/>
            </a:lvl8pPr>
            <a:lvl9pPr indent="-323850" lvl="8" marL="4114800" algn="l">
              <a:spcBef>
                <a:spcPts val="700"/>
              </a:spcBef>
              <a:spcAft>
                <a:spcPts val="0"/>
              </a:spcAft>
              <a:buSzPts val="1500"/>
              <a:buFont typeface="Helvetica Neue"/>
              <a:buChar char="»"/>
              <a:defRPr sz="2000"/>
            </a:lvl9pPr>
          </a:lstStyle>
          <a:p/>
        </p:txBody>
      </p:sp>
      <p:sp>
        <p:nvSpPr>
          <p:cNvPr id="51" name="Google Shape;51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9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spcBef>
                <a:spcPts val="420"/>
              </a:spcBef>
              <a:spcAft>
                <a:spcPts val="0"/>
              </a:spcAft>
              <a:buSzPts val="1140"/>
              <a:buNone/>
              <a:defRPr sz="1200"/>
            </a:lvl2pPr>
            <a:lvl3pPr indent="-228600" lvl="2" marL="1371600" algn="l">
              <a:spcBef>
                <a:spcPts val="350"/>
              </a:spcBef>
              <a:spcAft>
                <a:spcPts val="0"/>
              </a:spcAft>
              <a:buSzPts val="850"/>
              <a:buNone/>
              <a:defRPr sz="1000"/>
            </a:lvl3pPr>
            <a:lvl4pPr indent="-228600" lvl="3" marL="1828800" algn="l">
              <a:spcBef>
                <a:spcPts val="315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315"/>
              </a:spcBef>
              <a:spcAft>
                <a:spcPts val="0"/>
              </a:spcAft>
              <a:buSzPts val="675"/>
              <a:buFont typeface="Helvetica Neue"/>
              <a:buNone/>
              <a:defRPr sz="900"/>
            </a:lvl5pPr>
            <a:lvl6pPr indent="-228600" lvl="5" marL="2743200" algn="l">
              <a:spcBef>
                <a:spcPts val="315"/>
              </a:spcBef>
              <a:spcAft>
                <a:spcPts val="0"/>
              </a:spcAft>
              <a:buSzPts val="675"/>
              <a:buFont typeface="Helvetica Neue"/>
              <a:buNone/>
              <a:defRPr sz="900"/>
            </a:lvl6pPr>
            <a:lvl7pPr indent="-228600" lvl="6" marL="3200400" algn="l">
              <a:spcBef>
                <a:spcPts val="315"/>
              </a:spcBef>
              <a:spcAft>
                <a:spcPts val="0"/>
              </a:spcAft>
              <a:buSzPts val="675"/>
              <a:buFont typeface="Helvetica Neue"/>
              <a:buNone/>
              <a:defRPr sz="900"/>
            </a:lvl7pPr>
            <a:lvl8pPr indent="-228600" lvl="7" marL="3657600" algn="l">
              <a:spcBef>
                <a:spcPts val="315"/>
              </a:spcBef>
              <a:spcAft>
                <a:spcPts val="0"/>
              </a:spcAft>
              <a:buSzPts val="675"/>
              <a:buFont typeface="Helvetica Neue"/>
              <a:buNone/>
              <a:defRPr sz="900"/>
            </a:lvl8pPr>
            <a:lvl9pPr indent="-228600" lvl="8" marL="4114800" algn="l">
              <a:spcBef>
                <a:spcPts val="315"/>
              </a:spcBef>
              <a:spcAft>
                <a:spcPts val="0"/>
              </a:spcAft>
              <a:buSzPts val="675"/>
              <a:buFont typeface="Helvetica Neue"/>
              <a:buNone/>
              <a:defRPr sz="900"/>
            </a:lvl9pPr>
          </a:lstStyle>
          <a:p/>
        </p:txBody>
      </p:sp>
      <p:sp>
        <p:nvSpPr>
          <p:cNvPr id="52" name="Google Shape;52;p9"/>
          <p:cNvSpPr txBox="1"/>
          <p:nvPr>
            <p:ph idx="12" type="sldNum"/>
          </p:nvPr>
        </p:nvSpPr>
        <p:spPr>
          <a:xfrm>
            <a:off x="6553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56" name="Google Shape;56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9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spcBef>
                <a:spcPts val="420"/>
              </a:spcBef>
              <a:spcAft>
                <a:spcPts val="0"/>
              </a:spcAft>
              <a:buSzPts val="1140"/>
              <a:buNone/>
              <a:defRPr sz="1200"/>
            </a:lvl2pPr>
            <a:lvl3pPr indent="-228600" lvl="2" marL="1371600" algn="l">
              <a:spcBef>
                <a:spcPts val="350"/>
              </a:spcBef>
              <a:spcAft>
                <a:spcPts val="0"/>
              </a:spcAft>
              <a:buSzPts val="850"/>
              <a:buNone/>
              <a:defRPr sz="1000"/>
            </a:lvl3pPr>
            <a:lvl4pPr indent="-228600" lvl="3" marL="1828800" algn="l">
              <a:spcBef>
                <a:spcPts val="315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315"/>
              </a:spcBef>
              <a:spcAft>
                <a:spcPts val="0"/>
              </a:spcAft>
              <a:buSzPts val="675"/>
              <a:buFont typeface="Helvetica Neue"/>
              <a:buNone/>
              <a:defRPr sz="900"/>
            </a:lvl5pPr>
            <a:lvl6pPr indent="-228600" lvl="5" marL="2743200" algn="l">
              <a:spcBef>
                <a:spcPts val="315"/>
              </a:spcBef>
              <a:spcAft>
                <a:spcPts val="0"/>
              </a:spcAft>
              <a:buSzPts val="675"/>
              <a:buFont typeface="Helvetica Neue"/>
              <a:buNone/>
              <a:defRPr sz="900"/>
            </a:lvl6pPr>
            <a:lvl7pPr indent="-228600" lvl="6" marL="3200400" algn="l">
              <a:spcBef>
                <a:spcPts val="315"/>
              </a:spcBef>
              <a:spcAft>
                <a:spcPts val="0"/>
              </a:spcAft>
              <a:buSzPts val="675"/>
              <a:buFont typeface="Helvetica Neue"/>
              <a:buNone/>
              <a:defRPr sz="900"/>
            </a:lvl7pPr>
            <a:lvl8pPr indent="-228600" lvl="7" marL="3657600" algn="l">
              <a:spcBef>
                <a:spcPts val="315"/>
              </a:spcBef>
              <a:spcAft>
                <a:spcPts val="0"/>
              </a:spcAft>
              <a:buSzPts val="675"/>
              <a:buFont typeface="Helvetica Neue"/>
              <a:buNone/>
              <a:defRPr sz="900"/>
            </a:lvl8pPr>
            <a:lvl9pPr indent="-228600" lvl="8" marL="4114800" algn="l">
              <a:spcBef>
                <a:spcPts val="315"/>
              </a:spcBef>
              <a:spcAft>
                <a:spcPts val="0"/>
              </a:spcAft>
              <a:buSzPts val="675"/>
              <a:buFont typeface="Helvetica Neue"/>
              <a:buNone/>
              <a:defRPr sz="900"/>
            </a:lvl9pPr>
          </a:lstStyle>
          <a:p/>
        </p:txBody>
      </p:sp>
      <p:sp>
        <p:nvSpPr>
          <p:cNvPr id="57" name="Google Shape;57;p10"/>
          <p:cNvSpPr txBox="1"/>
          <p:nvPr>
            <p:ph idx="12" type="sldNum"/>
          </p:nvPr>
        </p:nvSpPr>
        <p:spPr>
          <a:xfrm>
            <a:off x="6553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1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" type="body"/>
          </p:nvPr>
        </p:nvSpPr>
        <p:spPr>
          <a:xfrm rot="5400000">
            <a:off x="2193132" y="-284956"/>
            <a:ext cx="4903787" cy="7661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630"/>
              </a:spcBef>
              <a:spcAft>
                <a:spcPts val="0"/>
              </a:spcAft>
              <a:buSzPts val="1800"/>
              <a:buChar char="●"/>
              <a:defRPr/>
            </a:lvl1pPr>
            <a:lvl2pPr indent="-337185" lvl="1" marL="914400" algn="l">
              <a:spcBef>
                <a:spcPts val="630"/>
              </a:spcBef>
              <a:spcAft>
                <a:spcPts val="0"/>
              </a:spcAft>
              <a:buSzPts val="1710"/>
              <a:buChar char="●"/>
              <a:defRPr/>
            </a:lvl2pPr>
            <a:lvl3pPr indent="-325755" lvl="2" marL="1371600" algn="l">
              <a:spcBef>
                <a:spcPts val="630"/>
              </a:spcBef>
              <a:spcAft>
                <a:spcPts val="0"/>
              </a:spcAft>
              <a:buSzPts val="1530"/>
              <a:buChar char="4"/>
              <a:defRPr/>
            </a:lvl3pPr>
            <a:lvl4pPr indent="-342900" lvl="3" marL="1828800" algn="l">
              <a:spcBef>
                <a:spcPts val="630"/>
              </a:spcBef>
              <a:spcAft>
                <a:spcPts val="0"/>
              </a:spcAft>
              <a:buSzPts val="1800"/>
              <a:buChar char="–"/>
              <a:defRPr/>
            </a:lvl4pPr>
            <a:lvl5pPr indent="-314325" lvl="4" marL="2286000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5pPr>
            <a:lvl6pPr indent="-314325" lvl="5" marL="2743200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6pPr>
            <a:lvl7pPr indent="-314325" lvl="6" marL="3200400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7pPr>
            <a:lvl8pPr indent="-314325" lvl="7" marL="3657600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8pPr>
            <a:lvl9pPr indent="-314325" lvl="8" marL="4114800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9pPr>
          </a:lstStyle>
          <a:p/>
        </p:txBody>
      </p:sp>
      <p:sp>
        <p:nvSpPr>
          <p:cNvPr id="61" name="Google Shape;61;p11"/>
          <p:cNvSpPr txBox="1"/>
          <p:nvPr>
            <p:ph idx="12" type="sldNum"/>
          </p:nvPr>
        </p:nvSpPr>
        <p:spPr>
          <a:xfrm>
            <a:off x="6553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2"/>
          <p:cNvSpPr txBox="1"/>
          <p:nvPr>
            <p:ph type="title"/>
          </p:nvPr>
        </p:nvSpPr>
        <p:spPr>
          <a:xfrm rot="5400000">
            <a:off x="4895850" y="2047875"/>
            <a:ext cx="5880100" cy="2019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2"/>
          <p:cNvSpPr txBox="1"/>
          <p:nvPr>
            <p:ph idx="1" type="body"/>
          </p:nvPr>
        </p:nvSpPr>
        <p:spPr>
          <a:xfrm rot="5400000">
            <a:off x="781050" y="104775"/>
            <a:ext cx="5880100" cy="590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630"/>
              </a:spcBef>
              <a:spcAft>
                <a:spcPts val="0"/>
              </a:spcAft>
              <a:buSzPts val="1800"/>
              <a:buChar char="●"/>
              <a:defRPr/>
            </a:lvl1pPr>
            <a:lvl2pPr indent="-337185" lvl="1" marL="914400" algn="l">
              <a:spcBef>
                <a:spcPts val="630"/>
              </a:spcBef>
              <a:spcAft>
                <a:spcPts val="0"/>
              </a:spcAft>
              <a:buSzPts val="1710"/>
              <a:buChar char="●"/>
              <a:defRPr/>
            </a:lvl2pPr>
            <a:lvl3pPr indent="-325755" lvl="2" marL="1371600" algn="l">
              <a:spcBef>
                <a:spcPts val="630"/>
              </a:spcBef>
              <a:spcAft>
                <a:spcPts val="0"/>
              </a:spcAft>
              <a:buSzPts val="1530"/>
              <a:buChar char="4"/>
              <a:defRPr/>
            </a:lvl3pPr>
            <a:lvl4pPr indent="-342900" lvl="3" marL="1828800" algn="l">
              <a:spcBef>
                <a:spcPts val="630"/>
              </a:spcBef>
              <a:spcAft>
                <a:spcPts val="0"/>
              </a:spcAft>
              <a:buSzPts val="1800"/>
              <a:buChar char="–"/>
              <a:defRPr/>
            </a:lvl4pPr>
            <a:lvl5pPr indent="-314325" lvl="4" marL="2286000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5pPr>
            <a:lvl6pPr indent="-314325" lvl="5" marL="2743200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6pPr>
            <a:lvl7pPr indent="-314325" lvl="6" marL="3200400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7pPr>
            <a:lvl8pPr indent="-314325" lvl="7" marL="3657600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8pPr>
            <a:lvl9pPr indent="-314325" lvl="8" marL="4114800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9pPr>
          </a:lstStyle>
          <a:p/>
        </p:txBody>
      </p:sp>
      <p:sp>
        <p:nvSpPr>
          <p:cNvPr id="65" name="Google Shape;65;p12"/>
          <p:cNvSpPr txBox="1"/>
          <p:nvPr>
            <p:ph idx="12" type="sldNum"/>
          </p:nvPr>
        </p:nvSpPr>
        <p:spPr>
          <a:xfrm>
            <a:off x="6553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 type="title">
  <p:cSld name="TITLE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63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spcBef>
                <a:spcPts val="630"/>
              </a:spcBef>
              <a:spcAft>
                <a:spcPts val="0"/>
              </a:spcAft>
              <a:buSzPts val="1710"/>
              <a:buNone/>
              <a:defRPr/>
            </a:lvl2pPr>
            <a:lvl3pPr lvl="2" algn="ctr">
              <a:spcBef>
                <a:spcPts val="630"/>
              </a:spcBef>
              <a:spcAft>
                <a:spcPts val="0"/>
              </a:spcAft>
              <a:buSzPts val="1530"/>
              <a:buNone/>
              <a:defRPr/>
            </a:lvl3pPr>
            <a:lvl4pPr lvl="3" algn="ctr">
              <a:spcBef>
                <a:spcPts val="630"/>
              </a:spcBef>
              <a:spcAft>
                <a:spcPts val="0"/>
              </a:spcAft>
              <a:buSzPts val="1800"/>
              <a:buNone/>
              <a:defRPr/>
            </a:lvl4pPr>
            <a:lvl5pPr lvl="4" algn="ctr">
              <a:spcBef>
                <a:spcPts val="630"/>
              </a:spcBef>
              <a:spcAft>
                <a:spcPts val="0"/>
              </a:spcAft>
              <a:buSzPts val="1350"/>
              <a:buFont typeface="Helvetica Neue"/>
              <a:buNone/>
              <a:defRPr/>
            </a:lvl5pPr>
            <a:lvl6pPr lvl="5" algn="ctr">
              <a:spcBef>
                <a:spcPts val="630"/>
              </a:spcBef>
              <a:spcAft>
                <a:spcPts val="0"/>
              </a:spcAft>
              <a:buSzPts val="1350"/>
              <a:buFont typeface="Helvetica Neue"/>
              <a:buNone/>
              <a:defRPr/>
            </a:lvl6pPr>
            <a:lvl7pPr lvl="6" algn="ctr">
              <a:spcBef>
                <a:spcPts val="630"/>
              </a:spcBef>
              <a:spcAft>
                <a:spcPts val="0"/>
              </a:spcAft>
              <a:buSzPts val="1350"/>
              <a:buFont typeface="Helvetica Neue"/>
              <a:buNone/>
              <a:defRPr/>
            </a:lvl7pPr>
            <a:lvl8pPr lvl="7" algn="ctr">
              <a:spcBef>
                <a:spcPts val="630"/>
              </a:spcBef>
              <a:spcAft>
                <a:spcPts val="0"/>
              </a:spcAft>
              <a:buSzPts val="1350"/>
              <a:buFont typeface="Helvetica Neue"/>
              <a:buNone/>
              <a:defRPr/>
            </a:lvl8pPr>
            <a:lvl9pPr lvl="8" algn="ctr">
              <a:spcBef>
                <a:spcPts val="630"/>
              </a:spcBef>
              <a:spcAft>
                <a:spcPts val="0"/>
              </a:spcAft>
              <a:buSzPts val="1350"/>
              <a:buFont typeface="Helvetica Neue"/>
              <a:buNone/>
              <a:defRPr/>
            </a:lvl9pPr>
          </a:lstStyle>
          <a:p/>
        </p:txBody>
      </p:sp>
      <p:sp>
        <p:nvSpPr>
          <p:cNvPr id="69" name="Google Shape;69;p13"/>
          <p:cNvSpPr txBox="1"/>
          <p:nvPr>
            <p:ph idx="12" type="sldNum"/>
          </p:nvPr>
        </p:nvSpPr>
        <p:spPr>
          <a:xfrm>
            <a:off x="6553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4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idx="1" type="body"/>
          </p:nvPr>
        </p:nvSpPr>
        <p:spPr>
          <a:xfrm>
            <a:off x="814388" y="1093788"/>
            <a:ext cx="7661275" cy="4903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marR="0" rtl="0" algn="l">
              <a:spcBef>
                <a:spcPts val="630"/>
              </a:spcBef>
              <a:spcAft>
                <a:spcPts val="0"/>
              </a:spcAft>
              <a:buClr>
                <a:srgbClr val="002060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37185" lvl="1" marL="914400" marR="0" rtl="0" algn="l">
              <a:spcBef>
                <a:spcPts val="630"/>
              </a:spcBef>
              <a:spcAft>
                <a:spcPts val="0"/>
              </a:spcAft>
              <a:buClr>
                <a:schemeClr val="folHlink"/>
              </a:buClr>
              <a:buSzPts val="1710"/>
              <a:buFont typeface="Arial"/>
              <a:buChar char="●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325755" lvl="2" marL="1371600" marR="0" rtl="0" algn="l">
              <a:spcBef>
                <a:spcPts val="630"/>
              </a:spcBef>
              <a:spcAft>
                <a:spcPts val="0"/>
              </a:spcAft>
              <a:buClr>
                <a:srgbClr val="33CC33"/>
              </a:buClr>
              <a:buSzPts val="1530"/>
              <a:buFont typeface="Arimo"/>
              <a:buChar char="4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342900" lvl="3" marL="1828800" marR="0" rtl="0" algn="l"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Times New Roman"/>
              <a:buChar char="–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314325" lvl="4" marL="2286000" marR="0" rtl="0" algn="l"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Helvetica Neue"/>
              <a:buChar char="»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14325" lvl="5" marL="2743200" marR="0" rtl="0" algn="l"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Helvetica Neue"/>
              <a:buChar char="»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314325" lvl="6" marL="3200400" marR="0" rtl="0" algn="l"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Helvetica Neue"/>
              <a:buChar char="»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314325" lvl="7" marL="3657600" marR="0" rtl="0" algn="l"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Helvetica Neue"/>
              <a:buChar char="»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314325" lvl="8" marL="4114800" marR="0" rtl="0" algn="l"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Helvetica Neue"/>
              <a:buChar char="»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2" type="sldNum"/>
          </p:nvPr>
        </p:nvSpPr>
        <p:spPr>
          <a:xfrm>
            <a:off x="6553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" name="Google Shape;12;p1"/>
          <p:cNvSpPr txBox="1"/>
          <p:nvPr/>
        </p:nvSpPr>
        <p:spPr>
          <a:xfrm>
            <a:off x="6762750" y="6613525"/>
            <a:ext cx="2381250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206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©Silberschatz, Korth and Sudarshan</a:t>
            </a:r>
            <a:endParaRPr/>
          </a:p>
        </p:txBody>
      </p:sp>
      <p:sp>
        <p:nvSpPr>
          <p:cNvPr id="13" name="Google Shape;13;p1"/>
          <p:cNvSpPr txBox="1"/>
          <p:nvPr/>
        </p:nvSpPr>
        <p:spPr>
          <a:xfrm>
            <a:off x="4444717" y="6613525"/>
            <a:ext cx="518092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206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12.</a:t>
            </a:r>
            <a:fld id="{00000000-1234-1234-1234-123412341234}" type="slidenum">
              <a:rPr b="1" i="0" lang="en-US" sz="1000" u="none" cap="none" strike="noStrike">
                <a:solidFill>
                  <a:srgbClr val="00206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1" i="0" sz="1000" u="none" cap="none" strike="noStrike">
              <a:solidFill>
                <a:srgbClr val="00206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" name="Google Shape;14;p1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00206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15" name="Google Shape;15;p1"/>
          <p:cNvSpPr txBox="1"/>
          <p:nvPr/>
        </p:nvSpPr>
        <p:spPr>
          <a:xfrm>
            <a:off x="0" y="6613525"/>
            <a:ext cx="2571750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206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Database System Concepts - 7</a:t>
            </a:r>
            <a:r>
              <a:rPr b="1" baseline="30000" i="0" lang="en-US" sz="1000" u="none" cap="none" strike="noStrike">
                <a:solidFill>
                  <a:srgbClr val="00206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</a:t>
            </a:r>
            <a:r>
              <a:rPr b="1" i="0" lang="en-US" sz="1000" u="none" cap="none" strike="noStrike">
                <a:solidFill>
                  <a:srgbClr val="00206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Edition</a:t>
            </a:r>
            <a:endParaRPr/>
          </a:p>
        </p:txBody>
      </p:sp>
      <p:sp>
        <p:nvSpPr>
          <p:cNvPr id="16" name="Google Shape;16;p1"/>
          <p:cNvSpPr/>
          <p:nvPr/>
        </p:nvSpPr>
        <p:spPr>
          <a:xfrm>
            <a:off x="8916988" y="5445125"/>
            <a:ext cx="227012" cy="47625"/>
          </a:xfrm>
          <a:custGeom>
            <a:rect b="b" l="l" r="r" t="t"/>
            <a:pathLst>
              <a:path extrusionOk="0" h="61" w="285">
                <a:moveTo>
                  <a:pt x="2" y="61"/>
                </a:moveTo>
                <a:lnTo>
                  <a:pt x="0" y="59"/>
                </a:lnTo>
                <a:lnTo>
                  <a:pt x="0" y="55"/>
                </a:lnTo>
                <a:lnTo>
                  <a:pt x="2" y="48"/>
                </a:lnTo>
                <a:lnTo>
                  <a:pt x="5" y="40"/>
                </a:lnTo>
                <a:lnTo>
                  <a:pt x="9" y="34"/>
                </a:lnTo>
                <a:lnTo>
                  <a:pt x="13" y="31"/>
                </a:lnTo>
                <a:lnTo>
                  <a:pt x="17" y="25"/>
                </a:lnTo>
                <a:lnTo>
                  <a:pt x="24" y="21"/>
                </a:lnTo>
                <a:lnTo>
                  <a:pt x="30" y="17"/>
                </a:lnTo>
                <a:lnTo>
                  <a:pt x="40" y="13"/>
                </a:lnTo>
                <a:lnTo>
                  <a:pt x="45" y="10"/>
                </a:lnTo>
                <a:lnTo>
                  <a:pt x="51" y="8"/>
                </a:lnTo>
                <a:lnTo>
                  <a:pt x="57" y="6"/>
                </a:lnTo>
                <a:lnTo>
                  <a:pt x="64" y="6"/>
                </a:lnTo>
                <a:lnTo>
                  <a:pt x="70" y="2"/>
                </a:lnTo>
                <a:lnTo>
                  <a:pt x="78" y="2"/>
                </a:lnTo>
                <a:lnTo>
                  <a:pt x="85" y="0"/>
                </a:lnTo>
                <a:lnTo>
                  <a:pt x="93" y="0"/>
                </a:lnTo>
                <a:lnTo>
                  <a:pt x="100" y="0"/>
                </a:lnTo>
                <a:lnTo>
                  <a:pt x="110" y="0"/>
                </a:lnTo>
                <a:lnTo>
                  <a:pt x="118" y="0"/>
                </a:lnTo>
                <a:lnTo>
                  <a:pt x="129" y="0"/>
                </a:lnTo>
                <a:lnTo>
                  <a:pt x="137" y="0"/>
                </a:lnTo>
                <a:lnTo>
                  <a:pt x="146" y="2"/>
                </a:lnTo>
                <a:lnTo>
                  <a:pt x="154" y="2"/>
                </a:lnTo>
                <a:lnTo>
                  <a:pt x="163" y="4"/>
                </a:lnTo>
                <a:lnTo>
                  <a:pt x="173" y="6"/>
                </a:lnTo>
                <a:lnTo>
                  <a:pt x="182" y="8"/>
                </a:lnTo>
                <a:lnTo>
                  <a:pt x="192" y="8"/>
                </a:lnTo>
                <a:lnTo>
                  <a:pt x="201" y="12"/>
                </a:lnTo>
                <a:lnTo>
                  <a:pt x="209" y="12"/>
                </a:lnTo>
                <a:lnTo>
                  <a:pt x="216" y="13"/>
                </a:lnTo>
                <a:lnTo>
                  <a:pt x="224" y="15"/>
                </a:lnTo>
                <a:lnTo>
                  <a:pt x="234" y="17"/>
                </a:lnTo>
                <a:lnTo>
                  <a:pt x="239" y="19"/>
                </a:lnTo>
                <a:lnTo>
                  <a:pt x="247" y="21"/>
                </a:lnTo>
                <a:lnTo>
                  <a:pt x="254" y="23"/>
                </a:lnTo>
                <a:lnTo>
                  <a:pt x="260" y="25"/>
                </a:lnTo>
                <a:lnTo>
                  <a:pt x="266" y="25"/>
                </a:lnTo>
                <a:lnTo>
                  <a:pt x="270" y="27"/>
                </a:lnTo>
                <a:lnTo>
                  <a:pt x="273" y="27"/>
                </a:lnTo>
                <a:lnTo>
                  <a:pt x="279" y="29"/>
                </a:lnTo>
                <a:lnTo>
                  <a:pt x="283" y="31"/>
                </a:lnTo>
                <a:lnTo>
                  <a:pt x="285" y="32"/>
                </a:lnTo>
                <a:lnTo>
                  <a:pt x="279" y="44"/>
                </a:lnTo>
                <a:lnTo>
                  <a:pt x="277" y="44"/>
                </a:lnTo>
                <a:lnTo>
                  <a:pt x="273" y="42"/>
                </a:lnTo>
                <a:lnTo>
                  <a:pt x="268" y="42"/>
                </a:lnTo>
                <a:lnTo>
                  <a:pt x="260" y="40"/>
                </a:lnTo>
                <a:lnTo>
                  <a:pt x="251" y="38"/>
                </a:lnTo>
                <a:lnTo>
                  <a:pt x="241" y="36"/>
                </a:lnTo>
                <a:lnTo>
                  <a:pt x="235" y="34"/>
                </a:lnTo>
                <a:lnTo>
                  <a:pt x="230" y="34"/>
                </a:lnTo>
                <a:lnTo>
                  <a:pt x="224" y="32"/>
                </a:lnTo>
                <a:lnTo>
                  <a:pt x="218" y="32"/>
                </a:lnTo>
                <a:lnTo>
                  <a:pt x="213" y="31"/>
                </a:lnTo>
                <a:lnTo>
                  <a:pt x="207" y="31"/>
                </a:lnTo>
                <a:lnTo>
                  <a:pt x="201" y="29"/>
                </a:lnTo>
                <a:lnTo>
                  <a:pt x="196" y="29"/>
                </a:lnTo>
                <a:lnTo>
                  <a:pt x="190" y="27"/>
                </a:lnTo>
                <a:lnTo>
                  <a:pt x="182" y="27"/>
                </a:lnTo>
                <a:lnTo>
                  <a:pt x="178" y="25"/>
                </a:lnTo>
                <a:lnTo>
                  <a:pt x="173" y="25"/>
                </a:lnTo>
                <a:lnTo>
                  <a:pt x="167" y="23"/>
                </a:lnTo>
                <a:lnTo>
                  <a:pt x="163" y="23"/>
                </a:lnTo>
                <a:lnTo>
                  <a:pt x="158" y="21"/>
                </a:lnTo>
                <a:lnTo>
                  <a:pt x="154" y="21"/>
                </a:lnTo>
                <a:lnTo>
                  <a:pt x="148" y="19"/>
                </a:lnTo>
                <a:lnTo>
                  <a:pt x="142" y="19"/>
                </a:lnTo>
                <a:lnTo>
                  <a:pt x="144" y="48"/>
                </a:lnTo>
                <a:lnTo>
                  <a:pt x="110" y="15"/>
                </a:lnTo>
                <a:lnTo>
                  <a:pt x="118" y="48"/>
                </a:lnTo>
                <a:lnTo>
                  <a:pt x="83" y="21"/>
                </a:lnTo>
                <a:lnTo>
                  <a:pt x="91" y="48"/>
                </a:lnTo>
                <a:lnTo>
                  <a:pt x="59" y="29"/>
                </a:lnTo>
                <a:lnTo>
                  <a:pt x="57" y="29"/>
                </a:lnTo>
                <a:lnTo>
                  <a:pt x="53" y="31"/>
                </a:lnTo>
                <a:lnTo>
                  <a:pt x="49" y="31"/>
                </a:lnTo>
                <a:lnTo>
                  <a:pt x="43" y="34"/>
                </a:lnTo>
                <a:lnTo>
                  <a:pt x="38" y="36"/>
                </a:lnTo>
                <a:lnTo>
                  <a:pt x="32" y="38"/>
                </a:lnTo>
                <a:lnTo>
                  <a:pt x="26" y="42"/>
                </a:lnTo>
                <a:lnTo>
                  <a:pt x="23" y="44"/>
                </a:lnTo>
                <a:lnTo>
                  <a:pt x="15" y="50"/>
                </a:lnTo>
                <a:lnTo>
                  <a:pt x="7" y="55"/>
                </a:lnTo>
                <a:lnTo>
                  <a:pt x="4" y="59"/>
                </a:lnTo>
                <a:lnTo>
                  <a:pt x="2" y="6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descr="Cover-6Ed" id="17" name="Google Shape;17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5546" y="0"/>
            <a:ext cx="742012" cy="94765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3.png"/><Relationship Id="rId4" Type="http://schemas.openxmlformats.org/officeDocument/2006/relationships/image" Target="../media/image10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3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1.jp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8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4"/>
          <p:cNvSpPr txBox="1"/>
          <p:nvPr>
            <p:ph type="ctrTitle"/>
          </p:nvPr>
        </p:nvSpPr>
        <p:spPr>
          <a:xfrm>
            <a:off x="685800" y="22860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Chapter 12: Physical Storage Systems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5"/>
          <p:cNvSpPr txBox="1"/>
          <p:nvPr>
            <p:ph type="title"/>
          </p:nvPr>
        </p:nvSpPr>
        <p:spPr>
          <a:xfrm>
            <a:off x="688975" y="282575"/>
            <a:ext cx="83407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Classification of Physical Storage Media</a:t>
            </a:r>
            <a:endParaRPr/>
          </a:p>
        </p:txBody>
      </p:sp>
      <p:sp>
        <p:nvSpPr>
          <p:cNvPr id="82" name="Google Shape;82;p15"/>
          <p:cNvSpPr txBox="1"/>
          <p:nvPr>
            <p:ph idx="1" type="body"/>
          </p:nvPr>
        </p:nvSpPr>
        <p:spPr>
          <a:xfrm>
            <a:off x="852096" y="1570873"/>
            <a:ext cx="7188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200"/>
              <a:buFont typeface="Noto Sans Symbols"/>
              <a:buChar char="▪"/>
            </a:pPr>
            <a:r>
              <a:rPr lang="en-US" sz="2000"/>
              <a:t>Can differentiate storage into:</a:t>
            </a:r>
            <a:endParaRPr/>
          </a:p>
          <a:p>
            <a:pPr indent="-285750" lvl="1" marL="742950" rtl="0" algn="l">
              <a:spcBef>
                <a:spcPts val="700"/>
              </a:spcBef>
              <a:spcAft>
                <a:spcPts val="0"/>
              </a:spcAft>
              <a:buSzPts val="2200"/>
              <a:buChar char="•"/>
            </a:pPr>
            <a:r>
              <a:rPr b="1" lang="en-US" sz="2000">
                <a:solidFill>
                  <a:srgbClr val="002060"/>
                </a:solidFill>
              </a:rPr>
              <a:t>volatile storage</a:t>
            </a:r>
            <a:r>
              <a:rPr b="1" lang="en-US" sz="2000"/>
              <a:t>: </a:t>
            </a:r>
            <a:r>
              <a:rPr lang="en-US" sz="2000"/>
              <a:t>loses contents when power is switched off</a:t>
            </a:r>
            <a:endParaRPr/>
          </a:p>
          <a:p>
            <a:pPr indent="-285750" lvl="1" marL="742950" rtl="0" algn="l">
              <a:spcBef>
                <a:spcPts val="700"/>
              </a:spcBef>
              <a:spcAft>
                <a:spcPts val="0"/>
              </a:spcAft>
              <a:buSzPts val="2200"/>
              <a:buChar char="•"/>
            </a:pPr>
            <a:r>
              <a:rPr b="1" lang="en-US" sz="2000">
                <a:solidFill>
                  <a:srgbClr val="002060"/>
                </a:solidFill>
              </a:rPr>
              <a:t>non-volatile storage</a:t>
            </a:r>
            <a:r>
              <a:rPr lang="en-US" sz="2000"/>
              <a:t>: </a:t>
            </a:r>
            <a:endParaRPr/>
          </a:p>
          <a:p>
            <a:pPr indent="-228600" lvl="2" marL="1085850" rtl="0" algn="l">
              <a:spcBef>
                <a:spcPts val="700"/>
              </a:spcBef>
              <a:spcAft>
                <a:spcPts val="0"/>
              </a:spcAft>
              <a:buSzPts val="1700"/>
              <a:buChar char="▪"/>
            </a:pPr>
            <a:r>
              <a:rPr lang="en-US" sz="2000"/>
              <a:t>Contents persist even when power is switched off. </a:t>
            </a:r>
            <a:endParaRPr/>
          </a:p>
          <a:p>
            <a:pPr indent="-228600" lvl="2" marL="1085850" rtl="0" algn="l">
              <a:spcBef>
                <a:spcPts val="700"/>
              </a:spcBef>
              <a:spcAft>
                <a:spcPts val="0"/>
              </a:spcAft>
              <a:buSzPts val="1700"/>
              <a:buChar char="▪"/>
            </a:pPr>
            <a:r>
              <a:rPr lang="en-US" sz="2000"/>
              <a:t>Includes secondary and tertiary storage, as well as batter-backed up main-memory.</a:t>
            </a:r>
            <a:endParaRPr/>
          </a:p>
          <a:p>
            <a:pPr indent="-342900" lvl="0" marL="342900" rtl="0" algn="l">
              <a:spcBef>
                <a:spcPts val="735"/>
              </a:spcBef>
              <a:spcAft>
                <a:spcPts val="0"/>
              </a:spcAft>
              <a:buSzPts val="2310"/>
              <a:buFont typeface="Noto Sans Symbols"/>
              <a:buChar char="▪"/>
            </a:pPr>
            <a:r>
              <a:rPr lang="en-US" sz="2100"/>
              <a:t>Factors affecting choice of storage media include</a:t>
            </a:r>
            <a:endParaRPr/>
          </a:p>
          <a:p>
            <a:pPr indent="-285750" lvl="1" marL="742950" rtl="0" algn="l">
              <a:spcBef>
                <a:spcPts val="665"/>
              </a:spcBef>
              <a:spcAft>
                <a:spcPts val="0"/>
              </a:spcAft>
              <a:buSzPts val="2090"/>
              <a:buChar char="•"/>
            </a:pPr>
            <a:r>
              <a:rPr lang="en-US" sz="1900"/>
              <a:t>Speed with which data can be accessed</a:t>
            </a:r>
            <a:endParaRPr/>
          </a:p>
          <a:p>
            <a:pPr indent="-285750" lvl="1" marL="742950" rtl="0" algn="l">
              <a:spcBef>
                <a:spcPts val="665"/>
              </a:spcBef>
              <a:spcAft>
                <a:spcPts val="0"/>
              </a:spcAft>
              <a:buSzPts val="2090"/>
              <a:buChar char="•"/>
            </a:pPr>
            <a:r>
              <a:rPr lang="en-US" sz="1900"/>
              <a:t>Cost per unit of data</a:t>
            </a:r>
            <a:endParaRPr/>
          </a:p>
          <a:p>
            <a:pPr indent="-285750" lvl="1" marL="742950" rtl="0" algn="l">
              <a:spcBef>
                <a:spcPts val="665"/>
              </a:spcBef>
              <a:spcAft>
                <a:spcPts val="0"/>
              </a:spcAft>
              <a:buSzPts val="2090"/>
              <a:buChar char="•"/>
            </a:pPr>
            <a:r>
              <a:rPr lang="en-US" sz="1900"/>
              <a:t>Reliability</a:t>
            </a:r>
            <a:endParaRPr/>
          </a:p>
          <a:p>
            <a:pPr indent="-146050" lvl="1" marL="742950" rtl="0" algn="l">
              <a:spcBef>
                <a:spcPts val="70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6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Storage Hierarchy</a:t>
            </a:r>
            <a:endParaRPr/>
          </a:p>
        </p:txBody>
      </p:sp>
      <p:pic>
        <p:nvPicPr>
          <p:cNvPr id="89" name="Google Shape;8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1772" y="1095653"/>
            <a:ext cx="6128633" cy="5220688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6"/>
          <p:cNvSpPr txBox="1"/>
          <p:nvPr/>
        </p:nvSpPr>
        <p:spPr>
          <a:xfrm>
            <a:off x="5573025" y="2105001"/>
            <a:ext cx="22277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206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Volatile Storage</a:t>
            </a:r>
            <a:endParaRPr/>
          </a:p>
        </p:txBody>
      </p:sp>
      <p:sp>
        <p:nvSpPr>
          <p:cNvPr id="91" name="Google Shape;91;p16"/>
          <p:cNvSpPr txBox="1"/>
          <p:nvPr/>
        </p:nvSpPr>
        <p:spPr>
          <a:xfrm>
            <a:off x="5573026" y="2653179"/>
            <a:ext cx="250256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206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Non Volatile Storage</a:t>
            </a:r>
            <a:endParaRPr/>
          </a:p>
        </p:txBody>
      </p:sp>
      <p:cxnSp>
        <p:nvCxnSpPr>
          <p:cNvPr id="92" name="Google Shape;92;p16"/>
          <p:cNvCxnSpPr/>
          <p:nvPr/>
        </p:nvCxnSpPr>
        <p:spPr>
          <a:xfrm>
            <a:off x="5489002" y="2550695"/>
            <a:ext cx="3410371" cy="0"/>
          </a:xfrm>
          <a:prstGeom prst="straightConnector1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3" name="Google Shape;93;p16"/>
          <p:cNvSpPr txBox="1"/>
          <p:nvPr/>
        </p:nvSpPr>
        <p:spPr>
          <a:xfrm>
            <a:off x="6671574" y="1353797"/>
            <a:ext cx="22277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Primary Storage</a:t>
            </a:r>
            <a:endParaRPr/>
          </a:p>
        </p:txBody>
      </p:sp>
      <p:sp>
        <p:nvSpPr>
          <p:cNvPr id="94" name="Google Shape;94;p16"/>
          <p:cNvSpPr txBox="1"/>
          <p:nvPr/>
        </p:nvSpPr>
        <p:spPr>
          <a:xfrm>
            <a:off x="6740247" y="5319537"/>
            <a:ext cx="22277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Tertiary Storage</a:t>
            </a:r>
            <a:endParaRPr/>
          </a:p>
        </p:txBody>
      </p:sp>
      <p:sp>
        <p:nvSpPr>
          <p:cNvPr id="95" name="Google Shape;95;p16"/>
          <p:cNvSpPr txBox="1"/>
          <p:nvPr/>
        </p:nvSpPr>
        <p:spPr>
          <a:xfrm>
            <a:off x="6626543" y="3430793"/>
            <a:ext cx="234150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Secondary Storage</a:t>
            </a:r>
            <a:endParaRPr/>
          </a:p>
        </p:txBody>
      </p:sp>
      <p:cxnSp>
        <p:nvCxnSpPr>
          <p:cNvPr id="96" name="Google Shape;96;p16"/>
          <p:cNvCxnSpPr/>
          <p:nvPr/>
        </p:nvCxnSpPr>
        <p:spPr>
          <a:xfrm>
            <a:off x="6464362" y="4600475"/>
            <a:ext cx="2365145" cy="0"/>
          </a:xfrm>
          <a:prstGeom prst="straightConnector1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7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Storage Hierarchy: Access Time</a:t>
            </a:r>
            <a:endParaRPr/>
          </a:p>
        </p:txBody>
      </p:sp>
      <p:sp>
        <p:nvSpPr>
          <p:cNvPr id="103" name="Google Shape;103;p17"/>
          <p:cNvSpPr txBox="1"/>
          <p:nvPr/>
        </p:nvSpPr>
        <p:spPr>
          <a:xfrm>
            <a:off x="6455292" y="1171206"/>
            <a:ext cx="1900038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1-5 nanoseconds</a:t>
            </a:r>
            <a:endParaRPr/>
          </a:p>
        </p:txBody>
      </p:sp>
      <p:sp>
        <p:nvSpPr>
          <p:cNvPr id="104" name="Google Shape;104;p17"/>
          <p:cNvSpPr txBox="1"/>
          <p:nvPr/>
        </p:nvSpPr>
        <p:spPr>
          <a:xfrm>
            <a:off x="6426786" y="2006513"/>
            <a:ext cx="251147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60-100  nanoseconds</a:t>
            </a:r>
            <a:br>
              <a:rPr b="1"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cache-line-at-a-time</a:t>
            </a:r>
            <a:endParaRPr/>
          </a:p>
        </p:txBody>
      </p:sp>
      <p:sp>
        <p:nvSpPr>
          <p:cNvPr id="105" name="Google Shape;105;p17"/>
          <p:cNvSpPr txBox="1"/>
          <p:nvPr/>
        </p:nvSpPr>
        <p:spPr>
          <a:xfrm>
            <a:off x="6381066" y="2967214"/>
            <a:ext cx="251147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20-100  microseconds</a:t>
            </a:r>
            <a:br>
              <a:rPr b="1"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page-at-a-time</a:t>
            </a:r>
            <a:endParaRPr/>
          </a:p>
        </p:txBody>
      </p:sp>
      <p:sp>
        <p:nvSpPr>
          <p:cNvPr id="106" name="Google Shape;106;p17"/>
          <p:cNvSpPr txBox="1"/>
          <p:nvPr/>
        </p:nvSpPr>
        <p:spPr>
          <a:xfrm>
            <a:off x="6403926" y="3876844"/>
            <a:ext cx="251147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5-10 milliseconds</a:t>
            </a:r>
            <a:br>
              <a:rPr b="1"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page-at-a-time</a:t>
            </a:r>
            <a:endParaRPr/>
          </a:p>
        </p:txBody>
      </p:sp>
      <p:sp>
        <p:nvSpPr>
          <p:cNvPr id="107" name="Google Shape;107;p17"/>
          <p:cNvSpPr txBox="1"/>
          <p:nvPr/>
        </p:nvSpPr>
        <p:spPr>
          <a:xfrm>
            <a:off x="6459305" y="4930174"/>
            <a:ext cx="2511474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100+ milliseconds</a:t>
            </a:r>
            <a:endParaRPr/>
          </a:p>
        </p:txBody>
      </p:sp>
      <p:sp>
        <p:nvSpPr>
          <p:cNvPr id="108" name="Google Shape;108;p17"/>
          <p:cNvSpPr txBox="1"/>
          <p:nvPr/>
        </p:nvSpPr>
        <p:spPr>
          <a:xfrm>
            <a:off x="6492464" y="5892534"/>
            <a:ext cx="2511474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10-100 seconds or more</a:t>
            </a:r>
            <a:endParaRPr/>
          </a:p>
        </p:txBody>
      </p:sp>
      <p:pic>
        <p:nvPicPr>
          <p:cNvPr id="109" name="Google Shape;10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1772" y="1084767"/>
            <a:ext cx="6128633" cy="5220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8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Storage Hierarchy (Cont.)</a:t>
            </a:r>
            <a:endParaRPr/>
          </a:p>
        </p:txBody>
      </p:sp>
      <p:sp>
        <p:nvSpPr>
          <p:cNvPr id="116" name="Google Shape;116;p18"/>
          <p:cNvSpPr txBox="1"/>
          <p:nvPr>
            <p:ph idx="1" type="body"/>
          </p:nvPr>
        </p:nvSpPr>
        <p:spPr>
          <a:xfrm>
            <a:off x="814388" y="1093788"/>
            <a:ext cx="7661275" cy="4903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200"/>
              <a:buFont typeface="Noto Sans Symbols"/>
              <a:buChar char="▪"/>
            </a:pPr>
            <a:r>
              <a:rPr b="1" lang="en-US" sz="2000">
                <a:solidFill>
                  <a:srgbClr val="002060"/>
                </a:solidFill>
              </a:rPr>
              <a:t>primary storage</a:t>
            </a:r>
            <a:r>
              <a:rPr b="1" lang="en-US" sz="2000"/>
              <a:t>: </a:t>
            </a:r>
            <a:r>
              <a:rPr lang="en-US" sz="2000"/>
              <a:t>Fastest media but volatile (cache, main memory).</a:t>
            </a:r>
            <a:endParaRPr/>
          </a:p>
          <a:p>
            <a:pPr indent="-342900" lvl="0" marL="342900" rtl="0" algn="l">
              <a:spcBef>
                <a:spcPts val="700"/>
              </a:spcBef>
              <a:spcAft>
                <a:spcPts val="0"/>
              </a:spcAft>
              <a:buSzPts val="2200"/>
              <a:buFont typeface="Noto Sans Symbols"/>
              <a:buChar char="▪"/>
            </a:pPr>
            <a:r>
              <a:rPr b="1" lang="en-US" sz="2000">
                <a:solidFill>
                  <a:srgbClr val="002060"/>
                </a:solidFill>
              </a:rPr>
              <a:t>secondary storage</a:t>
            </a:r>
            <a:r>
              <a:rPr b="1" lang="en-US" sz="2000"/>
              <a:t>:</a:t>
            </a:r>
            <a:r>
              <a:rPr lang="en-US" sz="2000"/>
              <a:t> next level in hierarchy, non-volatile, moderately fast access time</a:t>
            </a:r>
            <a:endParaRPr/>
          </a:p>
          <a:p>
            <a:pPr indent="-285750" lvl="1" marL="742950" rtl="0" algn="l">
              <a:spcBef>
                <a:spcPts val="700"/>
              </a:spcBef>
              <a:spcAft>
                <a:spcPts val="0"/>
              </a:spcAft>
              <a:buSzPts val="2200"/>
              <a:buChar char="•"/>
            </a:pPr>
            <a:r>
              <a:rPr lang="en-US" sz="2000"/>
              <a:t>also called </a:t>
            </a:r>
            <a:r>
              <a:rPr b="1" lang="en-US" sz="2000">
                <a:solidFill>
                  <a:srgbClr val="002060"/>
                </a:solidFill>
              </a:rPr>
              <a:t>on-line storage </a:t>
            </a:r>
            <a:endParaRPr sz="2000">
              <a:solidFill>
                <a:srgbClr val="002060"/>
              </a:solidFill>
            </a:endParaRPr>
          </a:p>
          <a:p>
            <a:pPr indent="-285750" lvl="1" marL="742950" rtl="0" algn="l">
              <a:spcBef>
                <a:spcPts val="700"/>
              </a:spcBef>
              <a:spcAft>
                <a:spcPts val="0"/>
              </a:spcAft>
              <a:buSzPts val="2200"/>
              <a:buChar char="•"/>
            </a:pPr>
            <a:r>
              <a:rPr lang="en-US" sz="2000"/>
              <a:t>E.g. flash memory, magnetic disks</a:t>
            </a:r>
            <a:endParaRPr/>
          </a:p>
          <a:p>
            <a:pPr indent="-342900" lvl="0" marL="342900" rtl="0" algn="l">
              <a:spcBef>
                <a:spcPts val="700"/>
              </a:spcBef>
              <a:spcAft>
                <a:spcPts val="0"/>
              </a:spcAft>
              <a:buSzPts val="2200"/>
              <a:buFont typeface="Noto Sans Symbols"/>
              <a:buChar char="▪"/>
            </a:pPr>
            <a:r>
              <a:rPr b="1" lang="en-US" sz="2000">
                <a:solidFill>
                  <a:srgbClr val="002060"/>
                </a:solidFill>
              </a:rPr>
              <a:t>tertiary storage</a:t>
            </a:r>
            <a:r>
              <a:rPr b="1" lang="en-US" sz="2000"/>
              <a:t>:</a:t>
            </a:r>
            <a:r>
              <a:rPr lang="en-US" sz="2000"/>
              <a:t> lowest level in hierarchy, non-volatile, slow access time</a:t>
            </a:r>
            <a:endParaRPr/>
          </a:p>
          <a:p>
            <a:pPr indent="-285750" lvl="1" marL="742950" rtl="0" algn="l">
              <a:spcBef>
                <a:spcPts val="700"/>
              </a:spcBef>
              <a:spcAft>
                <a:spcPts val="0"/>
              </a:spcAft>
              <a:buSzPts val="2200"/>
              <a:buChar char="•"/>
            </a:pPr>
            <a:r>
              <a:rPr lang="en-US" sz="2000"/>
              <a:t>also called </a:t>
            </a:r>
            <a:r>
              <a:rPr b="1" lang="en-US" sz="2000">
                <a:solidFill>
                  <a:srgbClr val="002060"/>
                </a:solidFill>
              </a:rPr>
              <a:t>off-line storage </a:t>
            </a:r>
            <a:r>
              <a:rPr lang="en-US" sz="2000">
                <a:solidFill>
                  <a:srgbClr val="0C0C0C"/>
                </a:solidFill>
              </a:rPr>
              <a:t>and used for</a:t>
            </a:r>
            <a:r>
              <a:rPr b="1" lang="en-US" sz="2000">
                <a:solidFill>
                  <a:srgbClr val="002060"/>
                </a:solidFill>
              </a:rPr>
              <a:t> archival storage</a:t>
            </a:r>
            <a:r>
              <a:rPr lang="en-US" sz="2000">
                <a:solidFill>
                  <a:srgbClr val="002060"/>
                </a:solidFill>
              </a:rPr>
              <a:t> </a:t>
            </a:r>
            <a:endParaRPr/>
          </a:p>
          <a:p>
            <a:pPr indent="-285750" lvl="1" marL="742950" rtl="0" algn="l">
              <a:spcBef>
                <a:spcPts val="700"/>
              </a:spcBef>
              <a:spcAft>
                <a:spcPts val="0"/>
              </a:spcAft>
              <a:buSzPts val="2200"/>
              <a:buChar char="•"/>
            </a:pPr>
            <a:r>
              <a:rPr lang="en-US" sz="2000"/>
              <a:t>e.g. magnetic tape, optical storage</a:t>
            </a:r>
            <a:endParaRPr/>
          </a:p>
          <a:p>
            <a:pPr indent="-285750" lvl="1" marL="742950" rtl="0" algn="l">
              <a:spcBef>
                <a:spcPts val="700"/>
              </a:spcBef>
              <a:spcAft>
                <a:spcPts val="0"/>
              </a:spcAft>
              <a:buSzPts val="2200"/>
              <a:buChar char="•"/>
            </a:pPr>
            <a:r>
              <a:rPr lang="en-US" sz="2000"/>
              <a:t>Magnetic tape</a:t>
            </a:r>
            <a:endParaRPr b="1" sz="2000"/>
          </a:p>
          <a:p>
            <a:pPr indent="-228600" lvl="2" marL="1085850" rtl="0" algn="l">
              <a:spcBef>
                <a:spcPts val="700"/>
              </a:spcBef>
              <a:spcAft>
                <a:spcPts val="0"/>
              </a:spcAft>
              <a:buSzPts val="1700"/>
              <a:buChar char="▪"/>
            </a:pPr>
            <a:r>
              <a:rPr b="1" lang="en-US" sz="2000"/>
              <a:t> </a:t>
            </a:r>
            <a:r>
              <a:rPr lang="en-US" sz="2000"/>
              <a:t>Sequential access, 1 to 12 TB capacity</a:t>
            </a:r>
            <a:endParaRPr/>
          </a:p>
          <a:p>
            <a:pPr indent="-228600" lvl="2" marL="1085850" rtl="0" algn="l">
              <a:spcBef>
                <a:spcPts val="700"/>
              </a:spcBef>
              <a:spcAft>
                <a:spcPts val="0"/>
              </a:spcAft>
              <a:buSzPts val="1700"/>
              <a:buChar char="▪"/>
            </a:pPr>
            <a:r>
              <a:rPr lang="en-US" sz="2000"/>
              <a:t>A few drives with many tapes</a:t>
            </a:r>
            <a:endParaRPr/>
          </a:p>
          <a:p>
            <a:pPr indent="-228600" lvl="2" marL="1085850" rtl="0" algn="l">
              <a:spcBef>
                <a:spcPts val="700"/>
              </a:spcBef>
              <a:spcAft>
                <a:spcPts val="0"/>
              </a:spcAft>
              <a:buSzPts val="1700"/>
              <a:buChar char="▪"/>
            </a:pPr>
            <a:r>
              <a:rPr lang="en-US" sz="2000"/>
              <a:t>Juke boxes with petabytes (1000’s of TB) of storage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9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Storage Interfaces</a:t>
            </a:r>
            <a:endParaRPr/>
          </a:p>
        </p:txBody>
      </p:sp>
      <p:sp>
        <p:nvSpPr>
          <p:cNvPr id="123" name="Google Shape;123;p19"/>
          <p:cNvSpPr txBox="1"/>
          <p:nvPr>
            <p:ph idx="1" type="body"/>
          </p:nvPr>
        </p:nvSpPr>
        <p:spPr>
          <a:xfrm>
            <a:off x="814388" y="1093788"/>
            <a:ext cx="7661275" cy="4903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90"/>
              <a:buChar char="▪"/>
            </a:pPr>
            <a:r>
              <a:rPr lang="en-US"/>
              <a:t>Disk interface standards families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>
                <a:solidFill>
                  <a:srgbClr val="002060"/>
                </a:solidFill>
              </a:rPr>
              <a:t>SATA</a:t>
            </a:r>
            <a:r>
              <a:rPr lang="en-US"/>
              <a:t> (Serial ATA) </a:t>
            </a:r>
            <a:endParaRPr/>
          </a:p>
          <a:p>
            <a:pPr indent="-228600" lvl="2" marL="1085850" rtl="0" algn="l">
              <a:lnSpc>
                <a:spcPct val="80000"/>
              </a:lnSpc>
              <a:spcBef>
                <a:spcPts val="630"/>
              </a:spcBef>
              <a:spcAft>
                <a:spcPts val="0"/>
              </a:spcAft>
              <a:buSzPts val="1530"/>
              <a:buChar char="▪"/>
            </a:pPr>
            <a:r>
              <a:rPr lang="en-US"/>
              <a:t>SATA 3 supports data transfer speeds of up to 6 gigabits/sec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>
                <a:solidFill>
                  <a:srgbClr val="002060"/>
                </a:solidFill>
              </a:rPr>
              <a:t>SAS </a:t>
            </a:r>
            <a:r>
              <a:rPr lang="en-US"/>
              <a:t>(Serial Attached SCSI)</a:t>
            </a:r>
            <a:endParaRPr/>
          </a:p>
          <a:p>
            <a:pPr indent="-228600" lvl="2" marL="1085850" rtl="0" algn="l">
              <a:lnSpc>
                <a:spcPct val="80000"/>
              </a:lnSpc>
              <a:spcBef>
                <a:spcPts val="630"/>
              </a:spcBef>
              <a:spcAft>
                <a:spcPts val="0"/>
              </a:spcAft>
              <a:buSzPts val="1530"/>
              <a:buChar char="▪"/>
            </a:pPr>
            <a:r>
              <a:rPr lang="en-US"/>
              <a:t>SAS Version 3 supports 12 gigabits/sec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/>
              <a:t>NVMe (Non-Volatile Memory Express) interface</a:t>
            </a:r>
            <a:endParaRPr/>
          </a:p>
          <a:p>
            <a:pPr indent="-228600" lvl="2" marL="1085850" rtl="0" algn="l">
              <a:lnSpc>
                <a:spcPct val="80000"/>
              </a:lnSpc>
              <a:spcBef>
                <a:spcPts val="630"/>
              </a:spcBef>
              <a:spcAft>
                <a:spcPts val="0"/>
              </a:spcAft>
              <a:buSzPts val="1530"/>
              <a:buChar char="▪"/>
            </a:pPr>
            <a:r>
              <a:rPr lang="en-US"/>
              <a:t>Works with PCIe connectors to support lower latency and higher transfer rates</a:t>
            </a:r>
            <a:endParaRPr/>
          </a:p>
          <a:p>
            <a:pPr indent="-228600" lvl="2" marL="1085850" rtl="0" algn="l">
              <a:lnSpc>
                <a:spcPct val="80000"/>
              </a:lnSpc>
              <a:spcBef>
                <a:spcPts val="630"/>
              </a:spcBef>
              <a:spcAft>
                <a:spcPts val="0"/>
              </a:spcAft>
              <a:buSzPts val="1530"/>
              <a:buChar char="▪"/>
            </a:pPr>
            <a:r>
              <a:rPr lang="en-US"/>
              <a:t>Supports data transfer rates of up to 24 gigabits/sec</a:t>
            </a:r>
            <a:endParaRPr/>
          </a:p>
          <a:p>
            <a:pPr indent="-342900" lvl="0" marL="342900" rtl="0" algn="l">
              <a:spcBef>
                <a:spcPts val="630"/>
              </a:spcBef>
              <a:spcAft>
                <a:spcPts val="0"/>
              </a:spcAft>
              <a:buSzPts val="1980"/>
              <a:buFont typeface="Noto Sans Symbols"/>
              <a:buChar char="▪"/>
            </a:pPr>
            <a:r>
              <a:rPr lang="en-US" sz="1800"/>
              <a:t>Disks usually connected directly to computer system</a:t>
            </a:r>
            <a:endParaRPr/>
          </a:p>
          <a:p>
            <a:pPr indent="-342900" lvl="0" marL="342900" rtl="0" algn="l">
              <a:spcBef>
                <a:spcPts val="630"/>
              </a:spcBef>
              <a:spcAft>
                <a:spcPts val="0"/>
              </a:spcAft>
              <a:buSzPts val="1980"/>
              <a:buFont typeface="Noto Sans Symbols"/>
              <a:buChar char="▪"/>
            </a:pPr>
            <a:r>
              <a:rPr lang="en-US" sz="1800"/>
              <a:t>In </a:t>
            </a:r>
            <a:r>
              <a:rPr b="1" lang="en-US" sz="1800">
                <a:solidFill>
                  <a:srgbClr val="002060"/>
                </a:solidFill>
              </a:rPr>
              <a:t>Storage Area Networks (SAN)</a:t>
            </a:r>
            <a:r>
              <a:rPr lang="en-US" sz="1800"/>
              <a:t>, a large number of disks are connected by a high-speed network to a number of servers</a:t>
            </a:r>
            <a:endParaRPr/>
          </a:p>
          <a:p>
            <a:pPr indent="-342900" lvl="0" marL="342900" rtl="0" algn="l">
              <a:spcBef>
                <a:spcPts val="630"/>
              </a:spcBef>
              <a:spcAft>
                <a:spcPts val="0"/>
              </a:spcAft>
              <a:buSzPts val="1980"/>
              <a:buFont typeface="Noto Sans Symbols"/>
              <a:buChar char="▪"/>
            </a:pPr>
            <a:r>
              <a:rPr lang="en-US" sz="1800"/>
              <a:t>In </a:t>
            </a:r>
            <a:r>
              <a:rPr b="1" lang="en-US" sz="1800">
                <a:solidFill>
                  <a:srgbClr val="002060"/>
                </a:solidFill>
              </a:rPr>
              <a:t>Network Attached Storage (NAS) </a:t>
            </a:r>
            <a:r>
              <a:rPr lang="en-US" sz="1800"/>
              <a:t>networked storage provides a file system interface using networked file system protocol, instead of providing a disk system interface</a:t>
            </a:r>
            <a:endParaRPr/>
          </a:p>
          <a:p>
            <a:pPr indent="-210184" lvl="0" marL="342900" rtl="0" algn="l">
              <a:lnSpc>
                <a:spcPct val="80000"/>
              </a:lnSpc>
              <a:spcBef>
                <a:spcPts val="665"/>
              </a:spcBef>
              <a:spcAft>
                <a:spcPts val="0"/>
              </a:spcAft>
              <a:buSzPts val="209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0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9" name="Google Shape;129;p2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1593" y="1451728"/>
            <a:ext cx="7979562" cy="46097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1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Magnetic Hard Disk Mechanism</a:t>
            </a:r>
            <a:endParaRPr/>
          </a:p>
        </p:txBody>
      </p:sp>
      <p:sp>
        <p:nvSpPr>
          <p:cNvPr id="136" name="Google Shape;136;p21"/>
          <p:cNvSpPr txBox="1"/>
          <p:nvPr/>
        </p:nvSpPr>
        <p:spPr>
          <a:xfrm>
            <a:off x="492125" y="5907088"/>
            <a:ext cx="4293163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Schematic diagram of magnetic disk drive</a:t>
            </a:r>
            <a:endParaRPr/>
          </a:p>
        </p:txBody>
      </p:sp>
      <p:pic>
        <p:nvPicPr>
          <p:cNvPr id="137" name="Google Shape;13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54496" y="3429000"/>
            <a:ext cx="2438279" cy="1761432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21"/>
          <p:cNvSpPr txBox="1"/>
          <p:nvPr/>
        </p:nvSpPr>
        <p:spPr>
          <a:xfrm>
            <a:off x="6055193" y="5843144"/>
            <a:ext cx="2991525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Photo of magnetic disk drive</a:t>
            </a:r>
            <a:endParaRPr/>
          </a:p>
        </p:txBody>
      </p:sp>
      <p:pic>
        <p:nvPicPr>
          <p:cNvPr id="139" name="Google Shape;139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1495" y="1025103"/>
            <a:ext cx="6192139" cy="48180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2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Magnetic Disks</a:t>
            </a:r>
            <a:endParaRPr/>
          </a:p>
        </p:txBody>
      </p:sp>
      <p:sp>
        <p:nvSpPr>
          <p:cNvPr id="146" name="Google Shape;146;p22"/>
          <p:cNvSpPr txBox="1"/>
          <p:nvPr>
            <p:ph idx="1" type="body"/>
          </p:nvPr>
        </p:nvSpPr>
        <p:spPr>
          <a:xfrm>
            <a:off x="814388" y="1093788"/>
            <a:ext cx="8031162" cy="53247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90"/>
              <a:buChar char="▪"/>
            </a:pPr>
            <a:r>
              <a:rPr b="1" lang="en-US">
                <a:solidFill>
                  <a:srgbClr val="002060"/>
                </a:solidFill>
              </a:rPr>
              <a:t>Read-write head</a:t>
            </a:r>
            <a:r>
              <a:rPr lang="en-US">
                <a:solidFill>
                  <a:srgbClr val="002060"/>
                </a:solidFill>
              </a:rPr>
              <a:t> 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SzPts val="2090"/>
              <a:buChar char="▪"/>
            </a:pPr>
            <a:r>
              <a:rPr lang="en-US"/>
              <a:t>Surface of platter divided into circular </a:t>
            </a:r>
            <a:r>
              <a:rPr b="1" lang="en-US">
                <a:solidFill>
                  <a:srgbClr val="002060"/>
                </a:solidFill>
              </a:rPr>
              <a:t>tracks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/>
              <a:t>Over 50K-100K tracks per platter on typical hard disks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SzPts val="2090"/>
              <a:buChar char="▪"/>
            </a:pPr>
            <a:r>
              <a:rPr lang="en-US"/>
              <a:t>Each track is divided into </a:t>
            </a:r>
            <a:r>
              <a:rPr b="1" lang="en-US">
                <a:solidFill>
                  <a:srgbClr val="002060"/>
                </a:solidFill>
              </a:rPr>
              <a:t>sectors</a:t>
            </a:r>
            <a:r>
              <a:rPr b="1" lang="en-US"/>
              <a:t>.</a:t>
            </a:r>
            <a:r>
              <a:rPr lang="en-US"/>
              <a:t>  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/>
              <a:t>A sector is the smallest unit of data that can be read or written.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/>
              <a:t>Sector size typically 512 bytes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/>
              <a:t>Typical sectors per track: 500 to 1000 (on inner tracks) to 1000 to 2000 (on outer tracks)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SzPts val="2090"/>
              <a:buChar char="▪"/>
            </a:pPr>
            <a:r>
              <a:rPr lang="en-US"/>
              <a:t>To read/write a sector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/>
              <a:t>disk arm swings to position head on right track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/>
              <a:t>platter spins continually; data is read/written as sector passes under head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SzPts val="2090"/>
              <a:buChar char="▪"/>
            </a:pPr>
            <a:r>
              <a:rPr lang="en-US"/>
              <a:t>Head-disk assemblies 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/>
              <a:t>multiple disk platters on a single spindle (1 to 5 usually)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/>
              <a:t>one head per platter, mounted on a common arm.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SzPts val="2090"/>
              <a:buChar char="▪"/>
            </a:pPr>
            <a:r>
              <a:rPr b="1" lang="en-US">
                <a:solidFill>
                  <a:srgbClr val="002060"/>
                </a:solidFill>
              </a:rPr>
              <a:t>Cylinder</a:t>
            </a:r>
            <a:r>
              <a:rPr i="1" lang="en-US"/>
              <a:t> i</a:t>
            </a:r>
            <a:r>
              <a:rPr b="1" i="1" lang="en-US"/>
              <a:t> </a:t>
            </a:r>
            <a:r>
              <a:rPr lang="en-US"/>
              <a:t>consists of </a:t>
            </a:r>
            <a:r>
              <a:rPr i="1" lang="en-US"/>
              <a:t>i</a:t>
            </a:r>
            <a:r>
              <a:rPr baseline="30000" lang="en-US"/>
              <a:t>th</a:t>
            </a:r>
            <a:r>
              <a:rPr lang="en-US"/>
              <a:t> track of all the platters 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3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Magnetic Disks (Cont.)</a:t>
            </a:r>
            <a:endParaRPr/>
          </a:p>
        </p:txBody>
      </p:sp>
      <p:sp>
        <p:nvSpPr>
          <p:cNvPr id="153" name="Google Shape;153;p23"/>
          <p:cNvSpPr txBox="1"/>
          <p:nvPr>
            <p:ph idx="1" type="body"/>
          </p:nvPr>
        </p:nvSpPr>
        <p:spPr>
          <a:xfrm>
            <a:off x="814388" y="1093788"/>
            <a:ext cx="7661275" cy="4903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90"/>
              <a:buChar char="▪"/>
            </a:pPr>
            <a:r>
              <a:rPr b="1" lang="en-US">
                <a:solidFill>
                  <a:srgbClr val="002060"/>
                </a:solidFill>
              </a:rPr>
              <a:t>Disk controller</a:t>
            </a:r>
            <a:r>
              <a:rPr lang="en-US">
                <a:solidFill>
                  <a:srgbClr val="002060"/>
                </a:solidFill>
              </a:rPr>
              <a:t> </a:t>
            </a:r>
            <a:r>
              <a:rPr lang="en-US"/>
              <a:t>– interfaces between the computer system and the disk drive hardware.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/>
              <a:t>accepts high-level commands to read or write a sector 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/>
              <a:t>initiates actions such as moving the disk arm to the right track and actually reading or writing the data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/>
              <a:t>Computes and attaches </a:t>
            </a:r>
            <a:r>
              <a:rPr b="1" lang="en-US">
                <a:solidFill>
                  <a:srgbClr val="002060"/>
                </a:solidFill>
              </a:rPr>
              <a:t>checksums</a:t>
            </a:r>
            <a:r>
              <a:rPr lang="en-US"/>
              <a:t> to each sector to verify that data is read back correctly</a:t>
            </a:r>
            <a:endParaRPr/>
          </a:p>
          <a:p>
            <a:pPr indent="-228600" lvl="2" marL="108585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1530"/>
              <a:buChar char="▪"/>
            </a:pPr>
            <a:r>
              <a:rPr lang="en-US"/>
              <a:t>If data is corrupted, with very high probability stored checksum won’t match recomputed checksum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/>
              <a:t>Ensures successful writing by reading back sector after writing it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/>
              <a:t>Performs </a:t>
            </a:r>
            <a:r>
              <a:rPr b="1" lang="en-US">
                <a:solidFill>
                  <a:srgbClr val="002060"/>
                </a:solidFill>
              </a:rPr>
              <a:t>remapping of bad sectors</a:t>
            </a:r>
            <a:endParaRPr/>
          </a:p>
        </p:txBody>
      </p:sp>
      <p:sp>
        <p:nvSpPr>
          <p:cNvPr id="154" name="Google Shape;154;p23"/>
          <p:cNvSpPr/>
          <p:nvPr/>
        </p:nvSpPr>
        <p:spPr>
          <a:xfrm>
            <a:off x="987425" y="3744913"/>
            <a:ext cx="6724650" cy="20240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4003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4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Performance Measures of Disks</a:t>
            </a:r>
            <a:endParaRPr/>
          </a:p>
        </p:txBody>
      </p:sp>
      <p:sp>
        <p:nvSpPr>
          <p:cNvPr id="161" name="Google Shape;161;p24"/>
          <p:cNvSpPr txBox="1"/>
          <p:nvPr>
            <p:ph idx="1" type="body"/>
          </p:nvPr>
        </p:nvSpPr>
        <p:spPr>
          <a:xfrm>
            <a:off x="887768" y="1122363"/>
            <a:ext cx="7733946" cy="5294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90"/>
              <a:buChar char="▪"/>
            </a:pPr>
            <a:r>
              <a:rPr b="1" lang="en-US">
                <a:solidFill>
                  <a:srgbClr val="002060"/>
                </a:solidFill>
              </a:rPr>
              <a:t>Access time</a:t>
            </a:r>
            <a:r>
              <a:rPr lang="en-US">
                <a:solidFill>
                  <a:srgbClr val="002060"/>
                </a:solidFill>
              </a:rPr>
              <a:t> </a:t>
            </a:r>
            <a:r>
              <a:rPr lang="en-US"/>
              <a:t>– the time it takes from when a read or write request is issued to when data transfer begins.  Consists of: 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SzPts val="1760"/>
              <a:buChar char="•"/>
            </a:pPr>
            <a:r>
              <a:rPr b="1" lang="en-US" sz="1600">
                <a:solidFill>
                  <a:srgbClr val="002060"/>
                </a:solidFill>
              </a:rPr>
              <a:t>Seek time</a:t>
            </a:r>
            <a:r>
              <a:rPr lang="en-US" sz="1600">
                <a:solidFill>
                  <a:srgbClr val="002060"/>
                </a:solidFill>
              </a:rPr>
              <a:t> </a:t>
            </a:r>
            <a:r>
              <a:rPr lang="en-US" sz="1600"/>
              <a:t>– time it takes to reposition the arm over the correct track. </a:t>
            </a:r>
            <a:endParaRPr/>
          </a:p>
          <a:p>
            <a:pPr indent="-228600" lvl="2" marL="108585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SzPts val="1360"/>
              <a:buChar char="▪"/>
            </a:pPr>
            <a:r>
              <a:rPr lang="en-US" sz="1600"/>
              <a:t> Average seek time is 1/2 the worst case seek time.</a:t>
            </a:r>
            <a:endParaRPr/>
          </a:p>
          <a:p>
            <a:pPr indent="-228600" lvl="3" marL="142875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SzPts val="1600"/>
              <a:buChar char="•"/>
            </a:pPr>
            <a:r>
              <a:rPr lang="en-US" sz="1600"/>
              <a:t>Would be 1/3 if all tracks had the same number of sectors, and we ignore the time to start and stop arm movement</a:t>
            </a:r>
            <a:endParaRPr/>
          </a:p>
          <a:p>
            <a:pPr indent="-228600" lvl="2" marL="108585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SzPts val="1360"/>
              <a:buChar char="▪"/>
            </a:pPr>
            <a:r>
              <a:rPr lang="en-US" sz="1600"/>
              <a:t>4 to 10 milliseconds on typical disks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SzPts val="1760"/>
              <a:buChar char="•"/>
            </a:pPr>
            <a:r>
              <a:rPr b="1" lang="en-US" sz="1600">
                <a:solidFill>
                  <a:srgbClr val="002060"/>
                </a:solidFill>
              </a:rPr>
              <a:t>Rotational latency</a:t>
            </a:r>
            <a:r>
              <a:rPr lang="en-US" sz="1600">
                <a:solidFill>
                  <a:srgbClr val="002060"/>
                </a:solidFill>
              </a:rPr>
              <a:t> </a:t>
            </a:r>
            <a:r>
              <a:rPr lang="en-US" sz="1600"/>
              <a:t>– time it takes for the sector to be accessed to appear under the head. </a:t>
            </a:r>
            <a:endParaRPr/>
          </a:p>
          <a:p>
            <a:pPr indent="-228600" lvl="2" marL="108585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SzPts val="1360"/>
              <a:buChar char="▪"/>
            </a:pPr>
            <a:r>
              <a:rPr lang="en-US" sz="1600"/>
              <a:t>4 to 11 milliseconds on typical disks (5400 to 15000 r.p.m.)</a:t>
            </a:r>
            <a:endParaRPr/>
          </a:p>
          <a:p>
            <a:pPr indent="-228600" lvl="2" marL="108585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SzPts val="1360"/>
              <a:buChar char="▪"/>
            </a:pPr>
            <a:r>
              <a:rPr lang="en-US" sz="1600"/>
              <a:t>Average latency is 1/2 of the above latency.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SzPts val="1760"/>
              <a:buChar char="•"/>
            </a:pPr>
            <a:r>
              <a:rPr lang="en-US" sz="1600"/>
              <a:t>Overall latency is 5 to 20 msec depending on disk model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665"/>
              </a:spcBef>
              <a:spcAft>
                <a:spcPts val="0"/>
              </a:spcAft>
              <a:buSzPts val="2090"/>
              <a:buChar char="▪"/>
            </a:pPr>
            <a:r>
              <a:rPr b="1" lang="en-US">
                <a:solidFill>
                  <a:srgbClr val="002060"/>
                </a:solidFill>
              </a:rPr>
              <a:t>Data-transfer rate </a:t>
            </a:r>
            <a:r>
              <a:rPr lang="en-US"/>
              <a:t>– the rate at which data can be retrieved from or stored to the disk.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SzPts val="1760"/>
              <a:buChar char="•"/>
            </a:pPr>
            <a:r>
              <a:rPr lang="en-US" sz="1600"/>
              <a:t>25 to 200 MB per second max rate, lower for inner tracks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5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Performance Measures (Cont.)</a:t>
            </a:r>
            <a:endParaRPr/>
          </a:p>
        </p:txBody>
      </p:sp>
      <p:sp>
        <p:nvSpPr>
          <p:cNvPr id="167" name="Google Shape;167;p25"/>
          <p:cNvSpPr txBox="1"/>
          <p:nvPr>
            <p:ph idx="1" type="body"/>
          </p:nvPr>
        </p:nvSpPr>
        <p:spPr>
          <a:xfrm>
            <a:off x="814388" y="1093788"/>
            <a:ext cx="7661275" cy="4903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090"/>
              <a:buFont typeface="Noto Sans Symbols"/>
              <a:buChar char="▪"/>
            </a:pPr>
            <a:r>
              <a:rPr b="1" lang="en-US">
                <a:solidFill>
                  <a:srgbClr val="002060"/>
                </a:solidFill>
              </a:rPr>
              <a:t>Disk block </a:t>
            </a:r>
            <a:r>
              <a:rPr lang="en-US"/>
              <a:t>is a logical unit for storage allocation and retrieval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/>
              <a:t>4 to 16 kilobytes typically</a:t>
            </a:r>
            <a:endParaRPr/>
          </a:p>
          <a:p>
            <a:pPr indent="-228600" lvl="2" marL="1085850" rtl="0" algn="l">
              <a:spcBef>
                <a:spcPts val="630"/>
              </a:spcBef>
              <a:spcAft>
                <a:spcPts val="0"/>
              </a:spcAft>
              <a:buSzPts val="1530"/>
              <a:buChar char="▪"/>
            </a:pPr>
            <a:r>
              <a:rPr lang="en-US"/>
              <a:t>Smaller blocks: more transfers from disk</a:t>
            </a:r>
            <a:endParaRPr/>
          </a:p>
          <a:p>
            <a:pPr indent="-228600" lvl="2" marL="1085850" rtl="0" algn="l">
              <a:spcBef>
                <a:spcPts val="630"/>
              </a:spcBef>
              <a:spcAft>
                <a:spcPts val="0"/>
              </a:spcAft>
              <a:buSzPts val="1530"/>
              <a:buChar char="▪"/>
            </a:pPr>
            <a:r>
              <a:rPr lang="en-US"/>
              <a:t>Larger blocks:  more space wasted due to partially filled blocks</a:t>
            </a:r>
            <a:endParaRPr/>
          </a:p>
          <a:p>
            <a:pPr indent="-342900" lvl="0" marL="342900" rtl="0" algn="l">
              <a:spcBef>
                <a:spcPts val="665"/>
              </a:spcBef>
              <a:spcAft>
                <a:spcPts val="0"/>
              </a:spcAft>
              <a:buSzPts val="2090"/>
              <a:buFont typeface="Noto Sans Symbols"/>
              <a:buChar char="▪"/>
            </a:pPr>
            <a:r>
              <a:rPr b="1" lang="en-US">
                <a:solidFill>
                  <a:srgbClr val="002060"/>
                </a:solidFill>
              </a:rPr>
              <a:t>Sequential access pattern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/>
              <a:t>Successive requests are for successive disk blocks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/>
              <a:t>Disk seek required only for first block</a:t>
            </a:r>
            <a:endParaRPr/>
          </a:p>
          <a:p>
            <a:pPr indent="-342900" lvl="0" marL="342900" rtl="0" algn="l">
              <a:spcBef>
                <a:spcPts val="665"/>
              </a:spcBef>
              <a:spcAft>
                <a:spcPts val="0"/>
              </a:spcAft>
              <a:buSzPts val="2090"/>
              <a:buFont typeface="Noto Sans Symbols"/>
              <a:buChar char="▪"/>
            </a:pPr>
            <a:r>
              <a:rPr b="1" lang="en-US">
                <a:solidFill>
                  <a:srgbClr val="002060"/>
                </a:solidFill>
              </a:rPr>
              <a:t>Random access pattern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/>
              <a:t>Successive requests are for blocks that can be anywhere on disk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/>
              <a:t>Each access requires a seek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/>
              <a:t>Transfer rates are low since a lot of time is wasted in seeks</a:t>
            </a:r>
            <a:endParaRPr/>
          </a:p>
          <a:p>
            <a:pPr indent="-342900" lvl="0" marL="342900" rtl="0" algn="l">
              <a:spcBef>
                <a:spcPts val="665"/>
              </a:spcBef>
              <a:spcAft>
                <a:spcPts val="0"/>
              </a:spcAft>
              <a:buSzPts val="2090"/>
              <a:buFont typeface="Noto Sans Symbols"/>
              <a:buChar char="▪"/>
            </a:pPr>
            <a:r>
              <a:rPr b="1" lang="en-US">
                <a:solidFill>
                  <a:srgbClr val="002060"/>
                </a:solidFill>
              </a:rPr>
              <a:t>I/O operations per second (IOPS)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/>
              <a:t>Number of random block reads that a disk can support per second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/>
              <a:t>50 to 200 IOPS on current generation magnetic disks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6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Performance Measures (Cont.)</a:t>
            </a:r>
            <a:endParaRPr/>
          </a:p>
        </p:txBody>
      </p:sp>
      <p:sp>
        <p:nvSpPr>
          <p:cNvPr id="174" name="Google Shape;174;p26"/>
          <p:cNvSpPr txBox="1"/>
          <p:nvPr>
            <p:ph idx="1" type="body"/>
          </p:nvPr>
        </p:nvSpPr>
        <p:spPr>
          <a:xfrm>
            <a:off x="814388" y="1093788"/>
            <a:ext cx="7661275" cy="4903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200"/>
              <a:buFont typeface="Noto Sans Symbols"/>
              <a:buChar char="▪"/>
            </a:pPr>
            <a:r>
              <a:rPr b="1" lang="en-US" sz="2000">
                <a:solidFill>
                  <a:srgbClr val="002060"/>
                </a:solidFill>
              </a:rPr>
              <a:t>Mean time to failure (MTTF)</a:t>
            </a:r>
            <a:r>
              <a:rPr lang="en-US" sz="2000">
                <a:solidFill>
                  <a:srgbClr val="002060"/>
                </a:solidFill>
              </a:rPr>
              <a:t> </a:t>
            </a:r>
            <a:r>
              <a:rPr lang="en-US" sz="2000"/>
              <a:t>– the average time the disk is expected to run continuously without any failure.</a:t>
            </a:r>
            <a:endParaRPr sz="1800"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/>
              <a:t>Typically 3 to 5 years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/>
              <a:t>Probability of failure of new disks is quite low, corresponding to a</a:t>
            </a:r>
            <a:br>
              <a:rPr lang="en-US"/>
            </a:br>
            <a:r>
              <a:rPr lang="en-US"/>
              <a:t>“theoretical MTTF” of 500,000 to 1,200,000 hours for a new disk</a:t>
            </a:r>
            <a:endParaRPr/>
          </a:p>
          <a:p>
            <a:pPr indent="-228600" lvl="2" marL="1085850" rtl="0" algn="l">
              <a:spcBef>
                <a:spcPts val="630"/>
              </a:spcBef>
              <a:spcAft>
                <a:spcPts val="0"/>
              </a:spcAft>
              <a:buSzPts val="1530"/>
              <a:buChar char="▪"/>
            </a:pPr>
            <a:r>
              <a:rPr lang="en-US"/>
              <a:t>E.g., an MTTF of 1,200,000 hours for a new disk means that given 1000 relatively new disks, on an average one will fail every 1200 hours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/>
              <a:t>MTTF decreases as disk ages</a:t>
            </a:r>
            <a:endParaRPr/>
          </a:p>
          <a:p>
            <a:pPr indent="-342900" lvl="0" marL="342900" rtl="0" algn="l">
              <a:spcBef>
                <a:spcPts val="700"/>
              </a:spcBef>
              <a:spcAft>
                <a:spcPts val="0"/>
              </a:spcAft>
              <a:buSzPts val="2200"/>
              <a:buFont typeface="Noto Sans Symbols"/>
              <a:buChar char="▪"/>
            </a:pPr>
            <a:r>
              <a:rPr b="1" lang="en-US" sz="2000">
                <a:solidFill>
                  <a:srgbClr val="002060"/>
                </a:solidFill>
              </a:rPr>
              <a:t>Annualized Failure Rate (AFR):   </a:t>
            </a:r>
            <a:r>
              <a:rPr lang="en-US" sz="2000"/>
              <a:t>=( (365*24) / MTTF)*100%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/>
              <a:t>MTTF=1,200,000 🡺 AFR = 0.73%</a:t>
            </a:r>
            <a:endParaRPr/>
          </a:p>
          <a:p>
            <a:pPr indent="-342900" lvl="0" marL="342900" rtl="0" algn="l">
              <a:spcBef>
                <a:spcPts val="700"/>
              </a:spcBef>
              <a:spcAft>
                <a:spcPts val="0"/>
              </a:spcAft>
              <a:buSzPts val="2200"/>
              <a:buFont typeface="Noto Sans Symbols"/>
              <a:buChar char="▪"/>
            </a:pPr>
            <a:r>
              <a:rPr lang="en-US" sz="2000"/>
              <a:t>Suppose MTTF is 1,200,000 hours for a disk.  Then, in a system with 1000 disks, how often will a disk fail on average?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/>
              <a:t>Answer: on average one will fail every 1200 hours (50 days)</a:t>
            </a:r>
            <a:endParaRPr/>
          </a:p>
          <a:p>
            <a:pPr indent="-228600" lvl="2" marL="1085850" rtl="0" algn="l">
              <a:spcBef>
                <a:spcPts val="630"/>
              </a:spcBef>
              <a:spcAft>
                <a:spcPts val="0"/>
              </a:spcAft>
              <a:buSzPts val="1530"/>
              <a:buChar char="▪"/>
            </a:pPr>
            <a:r>
              <a:rPr lang="en-US"/>
              <a:t>Equivalently, 7.3 disks per year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980"/>
              <a:buFont typeface="Arial"/>
              <a:buNone/>
            </a:pPr>
            <a:r>
              <a:t/>
            </a:r>
            <a:endParaRPr/>
          </a:p>
          <a:p>
            <a:pPr indent="-210184" lvl="0" marL="342900" rtl="0" algn="l">
              <a:spcBef>
                <a:spcPts val="665"/>
              </a:spcBef>
              <a:spcAft>
                <a:spcPts val="0"/>
              </a:spcAft>
              <a:buSzPts val="2090"/>
              <a:buFont typeface="Noto Sans Symbols"/>
              <a:buNone/>
            </a:pPr>
            <a:r>
              <a:t/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980"/>
              <a:buFont typeface="Arial"/>
              <a:buNone/>
            </a:pPr>
            <a:r>
              <a:t/>
            </a:r>
            <a:endParaRPr/>
          </a:p>
          <a:p>
            <a:pPr indent="-210184" lvl="0" marL="342900" rtl="0" algn="l">
              <a:spcBef>
                <a:spcPts val="665"/>
              </a:spcBef>
              <a:spcAft>
                <a:spcPts val="0"/>
              </a:spcAft>
              <a:buSzPts val="2090"/>
              <a:buFont typeface="Noto Sans Symbols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7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Flash Storage</a:t>
            </a:r>
            <a:endParaRPr/>
          </a:p>
        </p:txBody>
      </p:sp>
      <p:sp>
        <p:nvSpPr>
          <p:cNvPr id="180" name="Google Shape;180;p27"/>
          <p:cNvSpPr txBox="1"/>
          <p:nvPr>
            <p:ph idx="1" type="body"/>
          </p:nvPr>
        </p:nvSpPr>
        <p:spPr>
          <a:xfrm>
            <a:off x="814388" y="1093788"/>
            <a:ext cx="7661275" cy="4903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0"/>
              <a:buChar char="▪"/>
            </a:pPr>
            <a:r>
              <a:rPr lang="en-US" sz="2000"/>
              <a:t>NOR flash vs NAND flash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200"/>
              <a:buChar char="▪"/>
            </a:pPr>
            <a:r>
              <a:rPr lang="en-US" sz="2000"/>
              <a:t>NAND flash 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200"/>
              <a:buChar char="•"/>
            </a:pPr>
            <a:r>
              <a:rPr lang="en-US" sz="2000"/>
              <a:t>used widely for storage, cheaper than NOR flash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200"/>
              <a:buChar char="•"/>
            </a:pPr>
            <a:r>
              <a:rPr lang="en-US" sz="2000"/>
              <a:t>requires page-at-a-time read (page: 512 bytes to 4 KB)</a:t>
            </a:r>
            <a:endParaRPr/>
          </a:p>
          <a:p>
            <a:pPr indent="-228600" lvl="2" marL="108585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700"/>
              <a:buChar char="▪"/>
            </a:pPr>
            <a:r>
              <a:rPr lang="en-US" sz="2000"/>
              <a:t>20 to 100 microseconds for a page read</a:t>
            </a:r>
            <a:endParaRPr/>
          </a:p>
          <a:p>
            <a:pPr indent="-228600" lvl="2" marL="108585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700"/>
              <a:buChar char="▪"/>
            </a:pPr>
            <a:r>
              <a:rPr lang="en-US" sz="2000"/>
              <a:t>Not much difference between sequential and random read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200"/>
              <a:buChar char="•"/>
            </a:pPr>
            <a:r>
              <a:rPr lang="en-US" sz="2000"/>
              <a:t>Page can only be written once</a:t>
            </a:r>
            <a:endParaRPr/>
          </a:p>
          <a:p>
            <a:pPr indent="-228600" lvl="2" marL="108585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700"/>
              <a:buChar char="▪"/>
            </a:pPr>
            <a:r>
              <a:rPr lang="en-US" sz="2000"/>
              <a:t>Must be erased to allow rewrite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200"/>
              <a:buChar char="▪"/>
            </a:pPr>
            <a:r>
              <a:rPr b="1" lang="en-US" sz="2000">
                <a:solidFill>
                  <a:srgbClr val="002060"/>
                </a:solidFill>
              </a:rPr>
              <a:t>Solid state disks</a:t>
            </a:r>
            <a:r>
              <a:rPr lang="en-US" sz="2000"/>
              <a:t> 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SzPts val="2090"/>
              <a:buChar char="•"/>
            </a:pPr>
            <a:r>
              <a:rPr lang="en-US" sz="1900"/>
              <a:t>Use standard block-oriented disk interfaces, but store data on multiple flash storage devices internally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735"/>
              </a:spcBef>
              <a:spcAft>
                <a:spcPts val="0"/>
              </a:spcAft>
              <a:buSzPts val="2310"/>
              <a:buChar char="•"/>
            </a:pPr>
            <a:r>
              <a:rPr lang="en-US" sz="2100"/>
              <a:t>Transfer rate of up to 500 MB/sec using SATA, and </a:t>
            </a:r>
            <a:br>
              <a:rPr lang="en-US" sz="2100"/>
            </a:br>
            <a:r>
              <a:rPr lang="en-US" sz="2100"/>
              <a:t>up to 3 GB/sec using NVMe PCIe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8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Flash Storage (Cont.)</a:t>
            </a:r>
            <a:endParaRPr/>
          </a:p>
        </p:txBody>
      </p:sp>
      <p:sp>
        <p:nvSpPr>
          <p:cNvPr id="187" name="Google Shape;187;p28"/>
          <p:cNvSpPr txBox="1"/>
          <p:nvPr>
            <p:ph idx="1" type="body"/>
          </p:nvPr>
        </p:nvSpPr>
        <p:spPr>
          <a:xfrm>
            <a:off x="719817" y="828216"/>
            <a:ext cx="7920038" cy="5238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90"/>
              <a:buChar char="▪"/>
            </a:pPr>
            <a:r>
              <a:rPr lang="en-US"/>
              <a:t>Erase happens in units of </a:t>
            </a:r>
            <a:r>
              <a:rPr b="1" lang="en-US">
                <a:solidFill>
                  <a:srgbClr val="002060"/>
                </a:solidFill>
              </a:rPr>
              <a:t>erase block 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/>
              <a:t>Takes 2 to 5millisecs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/>
              <a:t>Erase block typically 256 KB to 1 MB (128 to 256 pages)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SzPts val="2090"/>
              <a:buChar char="▪"/>
            </a:pPr>
            <a:r>
              <a:rPr b="1" lang="en-US">
                <a:solidFill>
                  <a:srgbClr val="002060"/>
                </a:solidFill>
              </a:rPr>
              <a:t>Remapping</a:t>
            </a:r>
            <a:r>
              <a:rPr lang="en-US"/>
              <a:t> of logical page addresses to physical page addresses avoids waiting for erase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SzPts val="2090"/>
              <a:buChar char="▪"/>
            </a:pPr>
            <a:r>
              <a:rPr b="1" lang="en-US">
                <a:solidFill>
                  <a:srgbClr val="002060"/>
                </a:solidFill>
              </a:rPr>
              <a:t>Flash translation table</a:t>
            </a:r>
            <a:r>
              <a:rPr lang="en-US">
                <a:solidFill>
                  <a:srgbClr val="002060"/>
                </a:solidFill>
              </a:rPr>
              <a:t> </a:t>
            </a:r>
            <a:r>
              <a:rPr lang="en-US"/>
              <a:t>tracks mapping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/>
              <a:t>also stored in a label field of flash page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/>
              <a:t>remapping carried out by </a:t>
            </a:r>
            <a:r>
              <a:rPr b="1" lang="en-US">
                <a:solidFill>
                  <a:srgbClr val="002060"/>
                </a:solidFill>
              </a:rPr>
              <a:t>flash translation layer</a:t>
            </a:r>
            <a:endParaRPr/>
          </a:p>
        </p:txBody>
      </p:sp>
      <p:sp>
        <p:nvSpPr>
          <p:cNvPr id="188" name="Google Shape;188;p28"/>
          <p:cNvSpPr/>
          <p:nvPr/>
        </p:nvSpPr>
        <p:spPr>
          <a:xfrm>
            <a:off x="2323797" y="4050703"/>
            <a:ext cx="460375" cy="1666875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9" name="Google Shape;189;p28"/>
          <p:cNvSpPr txBox="1"/>
          <p:nvPr/>
        </p:nvSpPr>
        <p:spPr>
          <a:xfrm>
            <a:off x="789854" y="3856453"/>
            <a:ext cx="144943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Logical Page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Address</a:t>
            </a:r>
            <a:endParaRPr/>
          </a:p>
        </p:txBody>
      </p:sp>
      <p:sp>
        <p:nvSpPr>
          <p:cNvPr id="190" name="Google Shape;190;p28"/>
          <p:cNvSpPr/>
          <p:nvPr/>
        </p:nvSpPr>
        <p:spPr>
          <a:xfrm>
            <a:off x="3704922" y="4050703"/>
            <a:ext cx="904875" cy="17145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1" name="Google Shape;191;p28"/>
          <p:cNvSpPr txBox="1"/>
          <p:nvPr/>
        </p:nvSpPr>
        <p:spPr>
          <a:xfrm>
            <a:off x="4736500" y="3763768"/>
            <a:ext cx="1563248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Physical Page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Address</a:t>
            </a:r>
            <a:endParaRPr/>
          </a:p>
        </p:txBody>
      </p:sp>
      <p:sp>
        <p:nvSpPr>
          <p:cNvPr id="192" name="Google Shape;192;p28"/>
          <p:cNvSpPr txBox="1"/>
          <p:nvPr/>
        </p:nvSpPr>
        <p:spPr>
          <a:xfrm>
            <a:off x="1514172" y="5882313"/>
            <a:ext cx="1872629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Flash Translation</a:t>
            </a:r>
            <a:br>
              <a:rPr b="1"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Table</a:t>
            </a:r>
            <a:endParaRPr/>
          </a:p>
        </p:txBody>
      </p:sp>
      <p:cxnSp>
        <p:nvCxnSpPr>
          <p:cNvPr id="193" name="Google Shape;193;p28"/>
          <p:cNvCxnSpPr/>
          <p:nvPr/>
        </p:nvCxnSpPr>
        <p:spPr>
          <a:xfrm>
            <a:off x="2800047" y="4241203"/>
            <a:ext cx="920750" cy="34925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94" name="Google Shape;194;p28"/>
          <p:cNvCxnSpPr/>
          <p:nvPr/>
        </p:nvCxnSpPr>
        <p:spPr>
          <a:xfrm flipH="1" rot="10800000">
            <a:off x="2761947" y="4225328"/>
            <a:ext cx="958850" cy="215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95" name="Google Shape;195;p28"/>
          <p:cNvCxnSpPr/>
          <p:nvPr/>
        </p:nvCxnSpPr>
        <p:spPr>
          <a:xfrm>
            <a:off x="2752422" y="4415828"/>
            <a:ext cx="952500" cy="41275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96" name="Google Shape;196;p28"/>
          <p:cNvSpPr txBox="1"/>
          <p:nvPr/>
        </p:nvSpPr>
        <p:spPr>
          <a:xfrm>
            <a:off x="6939974" y="4396705"/>
            <a:ext cx="1619354" cy="1815882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Logical address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Valid bit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Page Data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7" name="Google Shape;197;p28"/>
          <p:cNvSpPr txBox="1"/>
          <p:nvPr/>
        </p:nvSpPr>
        <p:spPr>
          <a:xfrm>
            <a:off x="2688922" y="3622078"/>
            <a:ext cx="1212191" cy="338554"/>
          </a:xfrm>
          <a:prstGeom prst="rect">
            <a:avLst/>
          </a:prstGeom>
          <a:solidFill>
            <a:srgbClr val="CCFFCC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Page write</a:t>
            </a:r>
            <a:endParaRPr/>
          </a:p>
        </p:txBody>
      </p:sp>
      <p:sp>
        <p:nvSpPr>
          <p:cNvPr id="198" name="Google Shape;198;p28"/>
          <p:cNvSpPr txBox="1"/>
          <p:nvPr/>
        </p:nvSpPr>
        <p:spPr>
          <a:xfrm>
            <a:off x="6860935" y="3748503"/>
            <a:ext cx="1563248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Physical Page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Structure</a:t>
            </a:r>
            <a:endParaRPr/>
          </a:p>
        </p:txBody>
      </p:sp>
      <p:cxnSp>
        <p:nvCxnSpPr>
          <p:cNvPr id="199" name="Google Shape;199;p28"/>
          <p:cNvCxnSpPr/>
          <p:nvPr/>
        </p:nvCxnSpPr>
        <p:spPr>
          <a:xfrm>
            <a:off x="6939974" y="4675368"/>
            <a:ext cx="1619354" cy="0"/>
          </a:xfrm>
          <a:prstGeom prst="straightConnector1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0" name="Google Shape;200;p28"/>
          <p:cNvCxnSpPr/>
          <p:nvPr/>
        </p:nvCxnSpPr>
        <p:spPr>
          <a:xfrm>
            <a:off x="6932882" y="4912832"/>
            <a:ext cx="1619354" cy="0"/>
          </a:xfrm>
          <a:prstGeom prst="straightConnector1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9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Flash Storage (Cont.)</a:t>
            </a:r>
            <a:endParaRPr/>
          </a:p>
        </p:txBody>
      </p:sp>
      <p:sp>
        <p:nvSpPr>
          <p:cNvPr id="207" name="Google Shape;207;p29"/>
          <p:cNvSpPr txBox="1"/>
          <p:nvPr>
            <p:ph idx="1" type="body"/>
          </p:nvPr>
        </p:nvSpPr>
        <p:spPr>
          <a:xfrm>
            <a:off x="719817" y="828216"/>
            <a:ext cx="7920038" cy="5238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90"/>
              <a:buChar char="▪"/>
            </a:pPr>
            <a:r>
              <a:rPr lang="en-US"/>
              <a:t>SLC After about 1,00,000 erases (SLC Flash) to as low as 10,000 or 1000 erases  (TLC/QLC Flash) erase block becomes unreliable and cannot be used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b="1" lang="en-US">
                <a:solidFill>
                  <a:srgbClr val="002060"/>
                </a:solidFill>
              </a:rPr>
              <a:t>wear leveling: </a:t>
            </a:r>
            <a:r>
              <a:rPr lang="en-US">
                <a:solidFill>
                  <a:srgbClr val="002060"/>
                </a:solidFill>
              </a:rPr>
              <a:t>store infrequently updated (“cold”) data in blocks that have been erased many times already</a:t>
            </a:r>
            <a:endParaRPr b="1">
              <a:solidFill>
                <a:srgbClr val="002060"/>
              </a:solidFill>
            </a:endParaRPr>
          </a:p>
        </p:txBody>
      </p:sp>
      <p:pic>
        <p:nvPicPr>
          <p:cNvPr descr="an infographic showing key differences between the different types of NAND" id="208" name="Google Shape;208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07802" y="2563781"/>
            <a:ext cx="6701952" cy="3769848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9"/>
          <p:cNvSpPr txBox="1"/>
          <p:nvPr/>
        </p:nvSpPr>
        <p:spPr>
          <a:xfrm>
            <a:off x="5189719" y="6434770"/>
            <a:ext cx="247635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Source: Kingston.com</a:t>
            </a:r>
            <a:endParaRPr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0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SSD Performance Metrics</a:t>
            </a:r>
            <a:endParaRPr/>
          </a:p>
        </p:txBody>
      </p:sp>
      <p:sp>
        <p:nvSpPr>
          <p:cNvPr id="215" name="Google Shape;215;p30"/>
          <p:cNvSpPr txBox="1"/>
          <p:nvPr>
            <p:ph idx="1" type="body"/>
          </p:nvPr>
        </p:nvSpPr>
        <p:spPr>
          <a:xfrm>
            <a:off x="814388" y="1093788"/>
            <a:ext cx="7661275" cy="4903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090"/>
              <a:buFont typeface="Noto Sans Symbols"/>
              <a:buChar char="▪"/>
            </a:pPr>
            <a:r>
              <a:rPr lang="en-US"/>
              <a:t>Random reads/writes per second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/>
              <a:t>Typical 4 KB reads:  10,000 reads per second (10,000 IOPS)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/>
              <a:t>Typical  4KB writes: 40,000 IOPS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/>
              <a:t>SSDs support parallel reads</a:t>
            </a:r>
            <a:endParaRPr/>
          </a:p>
          <a:p>
            <a:pPr indent="-228600" lvl="2" marL="1085850" rtl="0" algn="l">
              <a:spcBef>
                <a:spcPts val="630"/>
              </a:spcBef>
              <a:spcAft>
                <a:spcPts val="0"/>
              </a:spcAft>
              <a:buSzPts val="1530"/>
              <a:buChar char="▪"/>
            </a:pPr>
            <a:r>
              <a:rPr lang="en-US"/>
              <a:t>Typical 4KB reads: </a:t>
            </a:r>
            <a:endParaRPr/>
          </a:p>
          <a:p>
            <a:pPr indent="-228600" lvl="3" marL="1428750" rtl="0" algn="l">
              <a:spcBef>
                <a:spcPts val="63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100,000 IOPS with 32 requests in parallel (QD-32) on SATA</a:t>
            </a:r>
            <a:endParaRPr/>
          </a:p>
          <a:p>
            <a:pPr indent="-228600" lvl="3" marL="1428750" rtl="0" algn="l">
              <a:spcBef>
                <a:spcPts val="63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350,000 IOPS with QD-32 on NVMe PCIe</a:t>
            </a:r>
            <a:endParaRPr/>
          </a:p>
          <a:p>
            <a:pPr indent="-228600" lvl="2" marL="1085850" rtl="0" algn="l">
              <a:spcBef>
                <a:spcPts val="630"/>
              </a:spcBef>
              <a:spcAft>
                <a:spcPts val="0"/>
              </a:spcAft>
              <a:buSzPts val="1530"/>
              <a:buChar char="▪"/>
            </a:pPr>
            <a:r>
              <a:rPr lang="en-US"/>
              <a:t>Typical 4KB writes:</a:t>
            </a:r>
            <a:endParaRPr/>
          </a:p>
          <a:p>
            <a:pPr indent="-228600" lvl="3" marL="1428750" rtl="0" algn="l">
              <a:spcBef>
                <a:spcPts val="63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100,000 IOPS with QD-32, even higher on some models</a:t>
            </a:r>
            <a:endParaRPr/>
          </a:p>
          <a:p>
            <a:pPr indent="-342900" lvl="0" marL="342900" rtl="0" algn="l">
              <a:spcBef>
                <a:spcPts val="665"/>
              </a:spcBef>
              <a:spcAft>
                <a:spcPts val="0"/>
              </a:spcAft>
              <a:buSzPts val="2090"/>
              <a:buFont typeface="Noto Sans Symbols"/>
              <a:buChar char="▪"/>
            </a:pPr>
            <a:r>
              <a:rPr lang="en-US"/>
              <a:t> Data transfer rate for sequential reads/writes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/>
              <a:t>400 MB/sec for SATA3, 2 to 3 GB/sec using NVMe PCIe</a:t>
            </a:r>
            <a:endParaRPr/>
          </a:p>
          <a:p>
            <a:pPr indent="-342900" lvl="0" marL="342900" rtl="0" algn="l">
              <a:spcBef>
                <a:spcPts val="665"/>
              </a:spcBef>
              <a:spcAft>
                <a:spcPts val="0"/>
              </a:spcAft>
              <a:buSzPts val="2090"/>
              <a:buFont typeface="Noto Sans Symbols"/>
              <a:buChar char="▪"/>
            </a:pPr>
            <a:r>
              <a:rPr b="1" lang="en-US"/>
              <a:t>Hybrid disks</a:t>
            </a:r>
            <a:r>
              <a:rPr lang="en-US"/>
              <a:t>: combine small amount of flash cache with larger magnetic disk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1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Storage Class Memory</a:t>
            </a:r>
            <a:endParaRPr/>
          </a:p>
        </p:txBody>
      </p:sp>
      <p:sp>
        <p:nvSpPr>
          <p:cNvPr id="221" name="Google Shape;221;p31"/>
          <p:cNvSpPr txBox="1"/>
          <p:nvPr>
            <p:ph idx="1" type="body"/>
          </p:nvPr>
        </p:nvSpPr>
        <p:spPr>
          <a:xfrm>
            <a:off x="814388" y="1093788"/>
            <a:ext cx="7661275" cy="4903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090"/>
              <a:buFont typeface="Noto Sans Symbols"/>
              <a:buChar char="▪"/>
            </a:pPr>
            <a:r>
              <a:rPr lang="en-US"/>
              <a:t>3D-XPoint memory technology pioneered by Intel</a:t>
            </a:r>
            <a:endParaRPr/>
          </a:p>
          <a:p>
            <a:pPr indent="-342900" lvl="0" marL="342900" rtl="0" algn="l">
              <a:spcBef>
                <a:spcPts val="665"/>
              </a:spcBef>
              <a:spcAft>
                <a:spcPts val="0"/>
              </a:spcAft>
              <a:buSzPts val="2090"/>
              <a:buFont typeface="Noto Sans Symbols"/>
              <a:buChar char="▪"/>
            </a:pPr>
            <a:r>
              <a:rPr lang="en-US"/>
              <a:t>Available as Intel Optane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/>
              <a:t>SSD interface shipped from 2017</a:t>
            </a:r>
            <a:endParaRPr/>
          </a:p>
          <a:p>
            <a:pPr indent="-228600" lvl="2" marL="1085850" rtl="0" algn="l">
              <a:spcBef>
                <a:spcPts val="630"/>
              </a:spcBef>
              <a:spcAft>
                <a:spcPts val="0"/>
              </a:spcAft>
              <a:buSzPts val="1530"/>
              <a:buChar char="▪"/>
            </a:pPr>
            <a:r>
              <a:rPr lang="en-US"/>
              <a:t>Allows lower latency than flash SSDs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/>
              <a:t>Non-volatile memory interface announced in 2018</a:t>
            </a:r>
            <a:endParaRPr/>
          </a:p>
          <a:p>
            <a:pPr indent="-228600" lvl="2" marL="1085850" rtl="0" algn="l">
              <a:spcBef>
                <a:spcPts val="630"/>
              </a:spcBef>
              <a:spcAft>
                <a:spcPts val="0"/>
              </a:spcAft>
              <a:buSzPts val="1530"/>
              <a:buChar char="▪"/>
            </a:pPr>
            <a:r>
              <a:rPr lang="en-US"/>
              <a:t>Supports direct access to words, at speeds comparable to main-memory speeds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2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RAID</a:t>
            </a:r>
            <a:endParaRPr/>
          </a:p>
        </p:txBody>
      </p:sp>
      <p:sp>
        <p:nvSpPr>
          <p:cNvPr id="228" name="Google Shape;228;p32"/>
          <p:cNvSpPr txBox="1"/>
          <p:nvPr>
            <p:ph idx="1" type="body"/>
          </p:nvPr>
        </p:nvSpPr>
        <p:spPr>
          <a:xfrm>
            <a:off x="457200" y="1122363"/>
            <a:ext cx="8377238" cy="53609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090"/>
              <a:buFont typeface="Noto Sans Symbols"/>
              <a:buChar char="▪"/>
            </a:pPr>
            <a:r>
              <a:rPr b="1" lang="en-US">
                <a:solidFill>
                  <a:srgbClr val="002060"/>
                </a:solidFill>
              </a:rPr>
              <a:t>RAID: Redundant Arrays of Independent Disks </a:t>
            </a:r>
            <a:endParaRPr>
              <a:solidFill>
                <a:srgbClr val="002060"/>
              </a:solidFill>
            </a:endParaRPr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/>
              <a:t>disk organization techniques that manage a large numbers of disks, providing a view of a single disk of </a:t>
            </a:r>
            <a:endParaRPr/>
          </a:p>
          <a:p>
            <a:pPr indent="-228600" lvl="2" marL="1085850" rtl="0" algn="l">
              <a:spcBef>
                <a:spcPts val="630"/>
              </a:spcBef>
              <a:spcAft>
                <a:spcPts val="0"/>
              </a:spcAft>
              <a:buSzPts val="1530"/>
              <a:buChar char="▪"/>
            </a:pPr>
            <a:r>
              <a:rPr b="1" lang="en-US">
                <a:solidFill>
                  <a:srgbClr val="002060"/>
                </a:solidFill>
              </a:rPr>
              <a:t>high capacity </a:t>
            </a:r>
            <a:r>
              <a:rPr lang="en-US"/>
              <a:t>and </a:t>
            </a:r>
            <a:r>
              <a:rPr b="1" lang="en-US">
                <a:solidFill>
                  <a:srgbClr val="002060"/>
                </a:solidFill>
              </a:rPr>
              <a:t>high speed  </a:t>
            </a:r>
            <a:r>
              <a:rPr lang="en-US"/>
              <a:t>by using multiple disks in parallel,  </a:t>
            </a:r>
            <a:endParaRPr/>
          </a:p>
          <a:p>
            <a:pPr indent="-228600" lvl="2" marL="1085850" rtl="0" algn="l">
              <a:spcBef>
                <a:spcPts val="630"/>
              </a:spcBef>
              <a:spcAft>
                <a:spcPts val="0"/>
              </a:spcAft>
              <a:buSzPts val="1530"/>
              <a:buChar char="▪"/>
            </a:pPr>
            <a:r>
              <a:rPr b="1" lang="en-US">
                <a:solidFill>
                  <a:srgbClr val="002060"/>
                </a:solidFill>
              </a:rPr>
              <a:t>high reliability </a:t>
            </a:r>
            <a:r>
              <a:rPr lang="en-US"/>
              <a:t>by storing data redundantly, so that data can be recovered even if  a disk fails </a:t>
            </a:r>
            <a:endParaRPr/>
          </a:p>
          <a:p>
            <a:pPr indent="-342900" lvl="0" marL="342900" rtl="0" algn="l">
              <a:spcBef>
                <a:spcPts val="665"/>
              </a:spcBef>
              <a:spcAft>
                <a:spcPts val="0"/>
              </a:spcAft>
              <a:buSzPts val="2090"/>
              <a:buFont typeface="Noto Sans Symbols"/>
              <a:buChar char="▪"/>
            </a:pPr>
            <a:r>
              <a:rPr lang="en-US">
                <a:solidFill>
                  <a:srgbClr val="FF0000"/>
                </a:solidFill>
              </a:rPr>
              <a:t>The chance that some disk out of a set of </a:t>
            </a:r>
            <a:r>
              <a:rPr i="1" lang="en-US">
                <a:solidFill>
                  <a:srgbClr val="FF0000"/>
                </a:solidFill>
              </a:rPr>
              <a:t>N</a:t>
            </a:r>
            <a:r>
              <a:rPr lang="en-US">
                <a:solidFill>
                  <a:srgbClr val="FF0000"/>
                </a:solidFill>
              </a:rPr>
              <a:t> disks will fail is much higher than the chance that a specific single disk will fail</a:t>
            </a:r>
            <a:r>
              <a:rPr lang="en-US"/>
              <a:t>.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/>
              <a:t>E.g., a system with 100 disks, each with MTTF of 100,000 hours (approx.  11 years), will have a system MTTF of 1000 hours (approx. 41 days)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/>
              <a:t>Techniques for using redundancy to avoid data loss are critical with large numbers of disks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3"/>
          <p:cNvSpPr txBox="1"/>
          <p:nvPr>
            <p:ph type="title"/>
          </p:nvPr>
        </p:nvSpPr>
        <p:spPr>
          <a:xfrm>
            <a:off x="550863" y="306388"/>
            <a:ext cx="8593137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Improvement of Reliability via Redundancy</a:t>
            </a:r>
            <a:endParaRPr/>
          </a:p>
        </p:txBody>
      </p:sp>
      <p:sp>
        <p:nvSpPr>
          <p:cNvPr id="235" name="Google Shape;235;p33"/>
          <p:cNvSpPr txBox="1"/>
          <p:nvPr>
            <p:ph idx="1" type="body"/>
          </p:nvPr>
        </p:nvSpPr>
        <p:spPr>
          <a:xfrm>
            <a:off x="914400" y="1208088"/>
            <a:ext cx="7656513" cy="5264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90"/>
              <a:buChar char="▪"/>
            </a:pPr>
            <a:r>
              <a:rPr b="1" lang="en-US">
                <a:solidFill>
                  <a:srgbClr val="002060"/>
                </a:solidFill>
              </a:rPr>
              <a:t>Redundancy</a:t>
            </a:r>
            <a:r>
              <a:rPr lang="en-US"/>
              <a:t> – store extra information that can be used to rebuild information lost in a disk failure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SzPts val="2090"/>
              <a:buChar char="▪"/>
            </a:pPr>
            <a:r>
              <a:rPr lang="en-US"/>
              <a:t>E.g., </a:t>
            </a:r>
            <a:r>
              <a:rPr b="1" lang="en-US">
                <a:solidFill>
                  <a:srgbClr val="002060"/>
                </a:solidFill>
              </a:rPr>
              <a:t>Mirroring</a:t>
            </a:r>
            <a:r>
              <a:rPr b="1" lang="en-US"/>
              <a:t> </a:t>
            </a:r>
            <a:r>
              <a:rPr lang="en-US"/>
              <a:t>(or</a:t>
            </a:r>
            <a:r>
              <a:rPr b="1" lang="en-US"/>
              <a:t> shadowing</a:t>
            </a:r>
            <a:r>
              <a:rPr lang="en-US"/>
              <a:t>)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/>
              <a:t>Duplicate every disk.  Logical disk consists of two physical disks.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/>
              <a:t>Every write is carried out on both disks</a:t>
            </a:r>
            <a:endParaRPr/>
          </a:p>
          <a:p>
            <a:pPr indent="-228600" lvl="2" marL="108585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1530"/>
              <a:buChar char="▪"/>
            </a:pPr>
            <a:r>
              <a:rPr lang="en-US"/>
              <a:t>Reads can take place from either disk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/>
              <a:t>If one disk in a pair fails, data still available in the other</a:t>
            </a:r>
            <a:endParaRPr/>
          </a:p>
          <a:p>
            <a:pPr indent="-228600" lvl="2" marL="108585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1530"/>
              <a:buChar char="▪"/>
            </a:pPr>
            <a:r>
              <a:rPr lang="en-US"/>
              <a:t>Data loss would occur only if a disk fails, and its mirror disk also fails before the system is repaired</a:t>
            </a:r>
            <a:endParaRPr/>
          </a:p>
          <a:p>
            <a:pPr indent="-228600" lvl="3" marL="142875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Probability of combined event is very small </a:t>
            </a:r>
            <a:endParaRPr/>
          </a:p>
          <a:p>
            <a:pPr indent="-228600" lvl="4" marL="177165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1350"/>
              <a:buChar char="▪"/>
            </a:pPr>
            <a:r>
              <a:rPr lang="en-US"/>
              <a:t>Except for dependent failure modes such as fire or building collapse or electrical power surges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SzPts val="2090"/>
              <a:buChar char="▪"/>
            </a:pPr>
            <a:r>
              <a:rPr b="1" lang="en-US">
                <a:solidFill>
                  <a:srgbClr val="002060"/>
                </a:solidFill>
              </a:rPr>
              <a:t>Mean time to data loss</a:t>
            </a:r>
            <a:r>
              <a:rPr lang="en-US">
                <a:solidFill>
                  <a:srgbClr val="002060"/>
                </a:solidFill>
              </a:rPr>
              <a:t> </a:t>
            </a:r>
            <a:r>
              <a:rPr lang="en-US"/>
              <a:t>depends on mean time to failure, </a:t>
            </a:r>
            <a:br>
              <a:rPr lang="en-US"/>
            </a:br>
            <a:r>
              <a:rPr lang="en-US"/>
              <a:t>and </a:t>
            </a:r>
            <a:r>
              <a:rPr b="1" lang="en-US">
                <a:solidFill>
                  <a:srgbClr val="002060"/>
                </a:solidFill>
              </a:rPr>
              <a:t>mean time to repair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/>
              <a:t>E.g. MTTF of 100,000 hours, mean time to repair of 10 hours gives mean time to data loss of 500*10</a:t>
            </a:r>
            <a:r>
              <a:rPr baseline="30000" lang="en-US"/>
              <a:t>6</a:t>
            </a:r>
            <a:r>
              <a:rPr lang="en-US"/>
              <a:t> hours (or 57,000 years) for a mirrored pair of disks (ignoring dependent failure modes)</a:t>
            </a:r>
            <a:endParaRPr/>
          </a:p>
          <a:p>
            <a:pPr indent="-142875" lvl="4" marL="177165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135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4"/>
          <p:cNvSpPr txBox="1"/>
          <p:nvPr>
            <p:ph type="title"/>
          </p:nvPr>
        </p:nvSpPr>
        <p:spPr>
          <a:xfrm>
            <a:off x="550863" y="306388"/>
            <a:ext cx="8593137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Improvement of Reliability via Redundancy</a:t>
            </a:r>
            <a:endParaRPr/>
          </a:p>
        </p:txBody>
      </p:sp>
      <p:sp>
        <p:nvSpPr>
          <p:cNvPr id="242" name="Google Shape;242;p34"/>
          <p:cNvSpPr txBox="1"/>
          <p:nvPr>
            <p:ph idx="1" type="body"/>
          </p:nvPr>
        </p:nvSpPr>
        <p:spPr>
          <a:xfrm>
            <a:off x="914400" y="1208088"/>
            <a:ext cx="7656513" cy="5264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90"/>
              <a:buChar char="▪"/>
            </a:pPr>
            <a:r>
              <a:rPr b="1" lang="en-US">
                <a:solidFill>
                  <a:srgbClr val="002060"/>
                </a:solidFill>
              </a:rPr>
              <a:t>Redundancy</a:t>
            </a:r>
            <a:r>
              <a:rPr lang="en-US"/>
              <a:t> – store extra information that can be used to rebuild information lost in a disk failure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SzPts val="2090"/>
              <a:buChar char="▪"/>
            </a:pPr>
            <a:r>
              <a:rPr lang="en-US"/>
              <a:t>E.g., </a:t>
            </a:r>
            <a:r>
              <a:rPr b="1" lang="en-US">
                <a:solidFill>
                  <a:srgbClr val="002060"/>
                </a:solidFill>
              </a:rPr>
              <a:t>Mirroring</a:t>
            </a:r>
            <a:r>
              <a:rPr b="1" lang="en-US"/>
              <a:t> </a:t>
            </a:r>
            <a:r>
              <a:rPr lang="en-US"/>
              <a:t>(or</a:t>
            </a:r>
            <a:r>
              <a:rPr b="1" lang="en-US"/>
              <a:t> shadowing</a:t>
            </a:r>
            <a:r>
              <a:rPr lang="en-US"/>
              <a:t>)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/>
              <a:t>Duplicate every disk.  Logical disk consists of two physical disks.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/>
              <a:t>Every write is carried out on both disks</a:t>
            </a:r>
            <a:endParaRPr/>
          </a:p>
          <a:p>
            <a:pPr indent="-228600" lvl="2" marL="108585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1530"/>
              <a:buChar char="▪"/>
            </a:pPr>
            <a:r>
              <a:rPr lang="en-US"/>
              <a:t>Reads can take place from either disk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SzPts val="2090"/>
              <a:buChar char="▪"/>
            </a:pPr>
            <a:r>
              <a:rPr b="1" lang="en-US">
                <a:solidFill>
                  <a:srgbClr val="002060"/>
                </a:solidFill>
              </a:rPr>
              <a:t>Mean time to data loss</a:t>
            </a:r>
            <a:r>
              <a:rPr lang="en-US">
                <a:solidFill>
                  <a:srgbClr val="002060"/>
                </a:solidFill>
              </a:rPr>
              <a:t> </a:t>
            </a:r>
            <a:r>
              <a:rPr lang="en-US"/>
              <a:t>depends on mean time to failure, </a:t>
            </a:r>
            <a:br>
              <a:rPr lang="en-US"/>
            </a:br>
            <a:r>
              <a:rPr lang="en-US"/>
              <a:t>and </a:t>
            </a:r>
            <a:r>
              <a:rPr b="1" lang="en-US">
                <a:solidFill>
                  <a:srgbClr val="002060"/>
                </a:solidFill>
              </a:rPr>
              <a:t>mean time to repair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/>
              <a:t>E.g. MTTF of 100,000 hours, mean time to repair of 10 hours gives mean time to data loss of 500*10</a:t>
            </a:r>
            <a:r>
              <a:rPr baseline="30000" lang="en-US"/>
              <a:t>6</a:t>
            </a:r>
            <a:r>
              <a:rPr lang="en-US"/>
              <a:t> hours (or 57,000 years) for a mirrored pair of disks (ignoring dependent failure modes)</a:t>
            </a:r>
            <a:endParaRPr/>
          </a:p>
          <a:p>
            <a:pPr indent="-142875" lvl="4" marL="177165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135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5"/>
          <p:cNvSpPr txBox="1"/>
          <p:nvPr>
            <p:ph type="title"/>
          </p:nvPr>
        </p:nvSpPr>
        <p:spPr>
          <a:xfrm>
            <a:off x="392113" y="260350"/>
            <a:ext cx="8923337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Improvement in Performance via Parallelism</a:t>
            </a:r>
            <a:endParaRPr/>
          </a:p>
        </p:txBody>
      </p:sp>
      <p:sp>
        <p:nvSpPr>
          <p:cNvPr id="249" name="Google Shape;249;p35"/>
          <p:cNvSpPr txBox="1"/>
          <p:nvPr>
            <p:ph idx="1" type="body"/>
          </p:nvPr>
        </p:nvSpPr>
        <p:spPr>
          <a:xfrm>
            <a:off x="777081" y="1058862"/>
            <a:ext cx="8002935" cy="52709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090"/>
              <a:buFont typeface="Noto Sans Symbols"/>
              <a:buChar char="▪"/>
            </a:pPr>
            <a:r>
              <a:rPr lang="en-US"/>
              <a:t>Goals of parallelism in a disk system: 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980"/>
              <a:buFont typeface="Arial"/>
              <a:buNone/>
            </a:pPr>
            <a:r>
              <a:rPr lang="en-US"/>
              <a:t>1.	Load balance multiple small accesses to increase throughput</a:t>
            </a:r>
            <a:endParaRPr/>
          </a:p>
          <a:p>
            <a:pPr indent="-342900" lvl="1" marL="800100" rtl="0" algn="l">
              <a:spcBef>
                <a:spcPts val="630"/>
              </a:spcBef>
              <a:spcAft>
                <a:spcPts val="0"/>
              </a:spcAft>
              <a:buSzPts val="1980"/>
              <a:buFont typeface="Arial"/>
              <a:buAutoNum type="arabicPeriod" startAt="2"/>
            </a:pPr>
            <a:r>
              <a:rPr lang="en-US"/>
              <a:t>Parallelize large accesses to reduce response time.</a:t>
            </a:r>
            <a:endParaRPr/>
          </a:p>
          <a:p>
            <a:pPr indent="-342900" lvl="1" marL="800100" rtl="0" algn="l">
              <a:spcBef>
                <a:spcPts val="630"/>
              </a:spcBef>
              <a:spcAft>
                <a:spcPts val="0"/>
              </a:spcAft>
              <a:buSzPts val="1980"/>
              <a:buFont typeface="Arial"/>
              <a:buAutoNum type="arabicPeriod" startAt="2"/>
            </a:pPr>
            <a:r>
              <a:rPr lang="en-US"/>
              <a:t>Improve transfer rate by striping data across multiple disks.</a:t>
            </a:r>
            <a:endParaRPr/>
          </a:p>
          <a:p>
            <a:pPr indent="-342900" lvl="0" marL="342900" rtl="0" algn="l">
              <a:spcBef>
                <a:spcPts val="665"/>
              </a:spcBef>
              <a:spcAft>
                <a:spcPts val="0"/>
              </a:spcAft>
              <a:buSzPts val="2090"/>
              <a:buFont typeface="Noto Sans Symbols"/>
              <a:buChar char="▪"/>
            </a:pPr>
            <a:r>
              <a:rPr b="1" lang="en-US">
                <a:solidFill>
                  <a:srgbClr val="002060"/>
                </a:solidFill>
              </a:rPr>
              <a:t>Bit-level striping</a:t>
            </a:r>
            <a:r>
              <a:rPr lang="en-US">
                <a:solidFill>
                  <a:srgbClr val="002060"/>
                </a:solidFill>
              </a:rPr>
              <a:t> </a:t>
            </a:r>
            <a:r>
              <a:rPr lang="en-US"/>
              <a:t>– split the bits of each byte across multiple disks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/>
              <a:t>In an array of eight disks, write bit </a:t>
            </a:r>
            <a:r>
              <a:rPr i="1" lang="en-US"/>
              <a:t>i</a:t>
            </a:r>
            <a:r>
              <a:rPr lang="en-US"/>
              <a:t> of each byte to disk </a:t>
            </a:r>
            <a:r>
              <a:rPr i="1" lang="en-US"/>
              <a:t>i.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/>
              <a:t>Each access can read data at eight times the rate of a single disk.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/>
              <a:t>But seek/access time worse than for a single disk</a:t>
            </a:r>
            <a:endParaRPr/>
          </a:p>
          <a:p>
            <a:pPr indent="-228600" lvl="2" marL="1085850" rtl="0" algn="l">
              <a:spcBef>
                <a:spcPts val="630"/>
              </a:spcBef>
              <a:spcAft>
                <a:spcPts val="0"/>
              </a:spcAft>
              <a:buSzPts val="1530"/>
              <a:buChar char="▪"/>
            </a:pPr>
            <a:r>
              <a:rPr lang="en-US"/>
              <a:t>Bit level striping is not used much any more</a:t>
            </a:r>
            <a:endParaRPr/>
          </a:p>
          <a:p>
            <a:pPr indent="-342900" lvl="0" marL="342900" rtl="0" algn="l">
              <a:spcBef>
                <a:spcPts val="665"/>
              </a:spcBef>
              <a:spcAft>
                <a:spcPts val="0"/>
              </a:spcAft>
              <a:buSzPts val="2090"/>
              <a:buFont typeface="Noto Sans Symbols"/>
              <a:buChar char="▪"/>
            </a:pPr>
            <a:r>
              <a:rPr b="1" lang="en-US">
                <a:solidFill>
                  <a:srgbClr val="002060"/>
                </a:solidFill>
              </a:rPr>
              <a:t>Block-level striping </a:t>
            </a:r>
            <a:r>
              <a:rPr lang="en-US"/>
              <a:t>– with </a:t>
            </a:r>
            <a:r>
              <a:rPr i="1" lang="en-US"/>
              <a:t>n</a:t>
            </a:r>
            <a:r>
              <a:rPr lang="en-US"/>
              <a:t> disks, block </a:t>
            </a:r>
            <a:r>
              <a:rPr i="1" lang="en-US"/>
              <a:t>i</a:t>
            </a:r>
            <a:r>
              <a:rPr lang="en-US"/>
              <a:t> of a file goes to disk (</a:t>
            </a:r>
            <a:r>
              <a:rPr i="1" lang="en-US"/>
              <a:t>i</a:t>
            </a:r>
            <a:r>
              <a:rPr lang="en-US"/>
              <a:t> mod </a:t>
            </a:r>
            <a:r>
              <a:rPr i="1" lang="en-US"/>
              <a:t>n</a:t>
            </a:r>
            <a:r>
              <a:rPr lang="en-US"/>
              <a:t>) + 1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/>
              <a:t>Requests for different blocks can run in parallel if the blocks reside on different disks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/>
              <a:t>A request for a long sequence of blocks can utilize all disks in parallel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6"/>
          <p:cNvSpPr txBox="1"/>
          <p:nvPr>
            <p:ph type="title"/>
          </p:nvPr>
        </p:nvSpPr>
        <p:spPr>
          <a:xfrm>
            <a:off x="392113" y="260350"/>
            <a:ext cx="8923337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Improvement in Performance via Parallelism</a:t>
            </a:r>
            <a:endParaRPr/>
          </a:p>
        </p:txBody>
      </p:sp>
      <p:sp>
        <p:nvSpPr>
          <p:cNvPr id="256" name="Google Shape;256;p36"/>
          <p:cNvSpPr txBox="1"/>
          <p:nvPr>
            <p:ph idx="1" type="body"/>
          </p:nvPr>
        </p:nvSpPr>
        <p:spPr>
          <a:xfrm>
            <a:off x="777081" y="1058862"/>
            <a:ext cx="8002935" cy="52709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090"/>
              <a:buFont typeface="Noto Sans Symbols"/>
              <a:buChar char="▪"/>
            </a:pPr>
            <a:r>
              <a:rPr lang="en-US"/>
              <a:t>Goals of parallelism in a disk system: 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980"/>
              <a:buFont typeface="Arial"/>
              <a:buNone/>
            </a:pPr>
            <a:r>
              <a:rPr lang="en-US"/>
              <a:t>1.	Load balance multiple small accesses to increase throughput</a:t>
            </a:r>
            <a:endParaRPr/>
          </a:p>
          <a:p>
            <a:pPr indent="-342900" lvl="1" marL="800100" rtl="0" algn="l">
              <a:spcBef>
                <a:spcPts val="630"/>
              </a:spcBef>
              <a:spcAft>
                <a:spcPts val="0"/>
              </a:spcAft>
              <a:buSzPts val="1980"/>
              <a:buFont typeface="Arial"/>
              <a:buAutoNum type="arabicPeriod" startAt="2"/>
            </a:pPr>
            <a:r>
              <a:rPr lang="en-US"/>
              <a:t>Parallelize large accesses to reduce response time.</a:t>
            </a:r>
            <a:endParaRPr/>
          </a:p>
          <a:p>
            <a:pPr indent="-342900" lvl="1" marL="800100" rtl="0" algn="l">
              <a:spcBef>
                <a:spcPts val="630"/>
              </a:spcBef>
              <a:spcAft>
                <a:spcPts val="0"/>
              </a:spcAft>
              <a:buSzPts val="1980"/>
              <a:buFont typeface="Arial"/>
              <a:buAutoNum type="arabicPeriod" startAt="2"/>
            </a:pPr>
            <a:r>
              <a:rPr lang="en-US"/>
              <a:t>Improve transfer rate by striping data across multiple disks.</a:t>
            </a:r>
            <a:endParaRPr/>
          </a:p>
          <a:p>
            <a:pPr indent="-342900" lvl="0" marL="342900" rtl="0" algn="l">
              <a:spcBef>
                <a:spcPts val="665"/>
              </a:spcBef>
              <a:spcAft>
                <a:spcPts val="0"/>
              </a:spcAft>
              <a:buSzPts val="2090"/>
              <a:buFont typeface="Noto Sans Symbols"/>
              <a:buChar char="▪"/>
            </a:pPr>
            <a:r>
              <a:rPr b="1" lang="en-US">
                <a:solidFill>
                  <a:srgbClr val="002060"/>
                </a:solidFill>
              </a:rPr>
              <a:t>Bit-level striping</a:t>
            </a:r>
            <a:r>
              <a:rPr lang="en-US">
                <a:solidFill>
                  <a:srgbClr val="002060"/>
                </a:solidFill>
              </a:rPr>
              <a:t> 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>
                <a:solidFill>
                  <a:srgbClr val="002060"/>
                </a:solidFill>
              </a:rPr>
              <a:t>Not used in practice</a:t>
            </a:r>
            <a:endParaRPr/>
          </a:p>
          <a:p>
            <a:pPr indent="-342900" lvl="0" marL="342900" rtl="0" algn="l">
              <a:spcBef>
                <a:spcPts val="665"/>
              </a:spcBef>
              <a:spcAft>
                <a:spcPts val="0"/>
              </a:spcAft>
              <a:buSzPts val="2090"/>
              <a:buFont typeface="Noto Sans Symbols"/>
              <a:buChar char="▪"/>
            </a:pPr>
            <a:r>
              <a:rPr b="1" lang="en-US">
                <a:solidFill>
                  <a:srgbClr val="002060"/>
                </a:solidFill>
              </a:rPr>
              <a:t>Block-level striping </a:t>
            </a:r>
            <a:r>
              <a:rPr lang="en-US"/>
              <a:t>– with </a:t>
            </a:r>
            <a:r>
              <a:rPr i="1" lang="en-US"/>
              <a:t>n</a:t>
            </a:r>
            <a:r>
              <a:rPr lang="en-US"/>
              <a:t> disks, block </a:t>
            </a:r>
            <a:r>
              <a:rPr i="1" lang="en-US"/>
              <a:t>i</a:t>
            </a:r>
            <a:r>
              <a:rPr lang="en-US"/>
              <a:t> of a file goes to disk (</a:t>
            </a:r>
            <a:r>
              <a:rPr i="1" lang="en-US"/>
              <a:t>i</a:t>
            </a:r>
            <a:r>
              <a:rPr lang="en-US"/>
              <a:t> mod </a:t>
            </a:r>
            <a:r>
              <a:rPr i="1" lang="en-US"/>
              <a:t>n</a:t>
            </a:r>
            <a:r>
              <a:rPr lang="en-US"/>
              <a:t>) + 1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/>
              <a:t>Requests for different blocks can run in parallel if the blocks reside on different disks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/>
              <a:t>A request for a long sequence of blocks can utilize all disks in parallel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7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RAID Levels</a:t>
            </a:r>
            <a:endParaRPr/>
          </a:p>
        </p:txBody>
      </p:sp>
      <p:sp>
        <p:nvSpPr>
          <p:cNvPr id="263" name="Google Shape;263;p37"/>
          <p:cNvSpPr txBox="1"/>
          <p:nvPr>
            <p:ph idx="1" type="body"/>
          </p:nvPr>
        </p:nvSpPr>
        <p:spPr>
          <a:xfrm>
            <a:off x="814388" y="1093788"/>
            <a:ext cx="8221239" cy="32940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090"/>
              <a:buFont typeface="Noto Sans Symbols"/>
              <a:buChar char="▪"/>
            </a:pPr>
            <a:r>
              <a:rPr b="1" lang="en-US">
                <a:solidFill>
                  <a:srgbClr val="002060"/>
                </a:solidFill>
              </a:rPr>
              <a:t>RAID Level 0</a:t>
            </a:r>
            <a:r>
              <a:rPr lang="en-US"/>
              <a:t>:  </a:t>
            </a:r>
            <a:r>
              <a:rPr lang="en-US">
                <a:solidFill>
                  <a:srgbClr val="002060"/>
                </a:solidFill>
              </a:rPr>
              <a:t>Block striping; non-redundant</a:t>
            </a:r>
            <a:r>
              <a:rPr lang="en-US">
                <a:solidFill>
                  <a:schemeClr val="dk2"/>
                </a:solidFill>
              </a:rPr>
              <a:t>.</a:t>
            </a:r>
            <a:r>
              <a:rPr lang="en-US"/>
              <a:t> 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980"/>
              <a:buChar char="•"/>
            </a:pPr>
            <a:r>
              <a:rPr lang="en-US"/>
              <a:t> Used in high-performance applications where data loss is not critical. </a:t>
            </a:r>
            <a:endParaRPr/>
          </a:p>
          <a:p>
            <a:pPr indent="-342900" lvl="0" marL="342900" rtl="0" algn="l">
              <a:spcBef>
                <a:spcPts val="665"/>
              </a:spcBef>
              <a:spcAft>
                <a:spcPts val="0"/>
              </a:spcAft>
              <a:buSzPts val="2090"/>
              <a:buFont typeface="Noto Sans Symbols"/>
              <a:buChar char="▪"/>
            </a:pPr>
            <a:r>
              <a:rPr b="1" lang="en-US">
                <a:solidFill>
                  <a:srgbClr val="002060"/>
                </a:solidFill>
              </a:rPr>
              <a:t>RAID Level 1</a:t>
            </a:r>
            <a:r>
              <a:rPr lang="en-US"/>
              <a:t>:  </a:t>
            </a:r>
            <a:r>
              <a:rPr lang="en-US">
                <a:solidFill>
                  <a:srgbClr val="002060"/>
                </a:solidFill>
              </a:rPr>
              <a:t>Mirrored disks </a:t>
            </a:r>
            <a:r>
              <a:rPr lang="en-US"/>
              <a:t>with block striping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980"/>
              <a:buChar char="•"/>
            </a:pPr>
            <a:r>
              <a:rPr lang="en-US"/>
              <a:t>Offers best write performance.  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980"/>
              <a:buChar char="•"/>
            </a:pPr>
            <a:r>
              <a:rPr lang="en-US"/>
              <a:t>Popular for applications such as storing log files in a database system.</a:t>
            </a:r>
            <a:endParaRPr/>
          </a:p>
          <a:p>
            <a:pPr indent="-210184" lvl="0" marL="342900" rtl="0" algn="l">
              <a:spcBef>
                <a:spcPts val="665"/>
              </a:spcBef>
              <a:spcAft>
                <a:spcPts val="0"/>
              </a:spcAft>
              <a:buClr>
                <a:schemeClr val="hlink"/>
              </a:buClr>
              <a:buSzPts val="2090"/>
              <a:buNone/>
            </a:pPr>
            <a:r>
              <a:t/>
            </a:r>
            <a:endParaRPr/>
          </a:p>
          <a:p>
            <a:pPr indent="-210184" lvl="0" marL="342900" rtl="0" algn="l">
              <a:spcBef>
                <a:spcPts val="665"/>
              </a:spcBef>
              <a:spcAft>
                <a:spcPts val="0"/>
              </a:spcAft>
              <a:buSzPts val="2090"/>
              <a:buFont typeface="Noto Sans Symbols"/>
              <a:buNone/>
            </a:pPr>
            <a:r>
              <a:t/>
            </a:r>
            <a:endParaRPr/>
          </a:p>
        </p:txBody>
      </p:sp>
      <p:pic>
        <p:nvPicPr>
          <p:cNvPr id="264" name="Google Shape;264;p37"/>
          <p:cNvPicPr preferRelativeResize="0"/>
          <p:nvPr/>
        </p:nvPicPr>
        <p:blipFill rotWithShape="1">
          <a:blip r:embed="rId3">
            <a:alphaModFix/>
          </a:blip>
          <a:srcRect b="53244" l="0" r="0" t="0"/>
          <a:stretch/>
        </p:blipFill>
        <p:spPr>
          <a:xfrm>
            <a:off x="2070932" y="4183117"/>
            <a:ext cx="5250099" cy="22677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8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RAID Levels (Cont.)</a:t>
            </a:r>
            <a:endParaRPr/>
          </a:p>
        </p:txBody>
      </p:sp>
      <p:sp>
        <p:nvSpPr>
          <p:cNvPr id="271" name="Google Shape;271;p38"/>
          <p:cNvSpPr txBox="1"/>
          <p:nvPr>
            <p:ph idx="1" type="body"/>
          </p:nvPr>
        </p:nvSpPr>
        <p:spPr>
          <a:xfrm>
            <a:off x="814389" y="1093788"/>
            <a:ext cx="8031162" cy="32940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090"/>
              <a:buFont typeface="Noto Sans Symbols"/>
              <a:buChar char="▪"/>
            </a:pPr>
            <a:r>
              <a:rPr b="1" lang="en-US">
                <a:solidFill>
                  <a:srgbClr val="002060"/>
                </a:solidFill>
              </a:rPr>
              <a:t>Parity blocks</a:t>
            </a:r>
            <a:r>
              <a:rPr lang="en-US"/>
              <a:t>: Parity block </a:t>
            </a:r>
            <a:r>
              <a:rPr i="1" lang="en-US"/>
              <a:t>j</a:t>
            </a:r>
            <a:r>
              <a:rPr lang="en-US"/>
              <a:t> stores XOR of bits from block </a:t>
            </a:r>
            <a:r>
              <a:rPr i="1" lang="en-US"/>
              <a:t>j </a:t>
            </a:r>
            <a:r>
              <a:rPr lang="en-US"/>
              <a:t> of each disk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/>
              <a:t>When writing data to a block </a:t>
            </a:r>
            <a:r>
              <a:rPr i="1" lang="en-US"/>
              <a:t>j</a:t>
            </a:r>
            <a:r>
              <a:rPr lang="en-US"/>
              <a:t>, parity block </a:t>
            </a:r>
            <a:r>
              <a:rPr i="1" lang="en-US"/>
              <a:t>j </a:t>
            </a:r>
            <a:r>
              <a:rPr lang="en-US"/>
              <a:t>must also be computed and written to disk</a:t>
            </a:r>
            <a:endParaRPr/>
          </a:p>
          <a:p>
            <a:pPr indent="-228600" lvl="2" marL="1085850" rtl="0" algn="l">
              <a:spcBef>
                <a:spcPts val="630"/>
              </a:spcBef>
              <a:spcAft>
                <a:spcPts val="0"/>
              </a:spcAft>
              <a:buSzPts val="1530"/>
              <a:buChar char="▪"/>
            </a:pPr>
            <a:r>
              <a:rPr lang="en-US"/>
              <a:t>Can be done by using old parity block, old value of current block and new value of current block (2 block reads + 2 block writes)</a:t>
            </a:r>
            <a:endParaRPr/>
          </a:p>
          <a:p>
            <a:pPr indent="-228600" lvl="2" marL="1085850" rtl="0" algn="l">
              <a:spcBef>
                <a:spcPts val="630"/>
              </a:spcBef>
              <a:spcAft>
                <a:spcPts val="0"/>
              </a:spcAft>
              <a:buSzPts val="1530"/>
              <a:buChar char="▪"/>
            </a:pPr>
            <a:r>
              <a:rPr lang="en-US"/>
              <a:t>Or by recomputing the parity value using the new values of blocks corresponding to the parity block</a:t>
            </a:r>
            <a:endParaRPr/>
          </a:p>
          <a:p>
            <a:pPr indent="-228600" lvl="3" marL="1428750" rtl="0" algn="l">
              <a:spcBef>
                <a:spcPts val="63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More efficient for writing large amounts of data sequentially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/>
              <a:t>To recover data for a block, compute XOR of bits from all other blocks in the set including the parity block</a:t>
            </a:r>
            <a:endParaRPr/>
          </a:p>
          <a:p>
            <a:pPr indent="-160019" lvl="1" marL="742950" rtl="0" algn="l">
              <a:spcBef>
                <a:spcPts val="630"/>
              </a:spcBef>
              <a:spcAft>
                <a:spcPts val="0"/>
              </a:spcAft>
              <a:buSzPts val="1980"/>
              <a:buNone/>
            </a:pPr>
            <a:r>
              <a:t/>
            </a:r>
            <a:endParaRPr/>
          </a:p>
          <a:p>
            <a:pPr indent="-210184" lvl="0" marL="342900" rtl="0" algn="l">
              <a:spcBef>
                <a:spcPts val="665"/>
              </a:spcBef>
              <a:spcAft>
                <a:spcPts val="0"/>
              </a:spcAft>
              <a:buClr>
                <a:schemeClr val="hlink"/>
              </a:buClr>
              <a:buSzPts val="2090"/>
              <a:buNone/>
            </a:pPr>
            <a:r>
              <a:t/>
            </a:r>
            <a:endParaRPr/>
          </a:p>
          <a:p>
            <a:pPr indent="-210184" lvl="0" marL="342900" rtl="0" algn="l">
              <a:spcBef>
                <a:spcPts val="665"/>
              </a:spcBef>
              <a:spcAft>
                <a:spcPts val="0"/>
              </a:spcAft>
              <a:buSzPts val="2090"/>
              <a:buFont typeface="Noto Sans Symbols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9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RAID Levels (Cont.)</a:t>
            </a:r>
            <a:endParaRPr/>
          </a:p>
        </p:txBody>
      </p:sp>
      <p:sp>
        <p:nvSpPr>
          <p:cNvPr id="278" name="Google Shape;278;p39"/>
          <p:cNvSpPr txBox="1"/>
          <p:nvPr>
            <p:ph idx="1" type="body"/>
          </p:nvPr>
        </p:nvSpPr>
        <p:spPr>
          <a:xfrm>
            <a:off x="814388" y="1093788"/>
            <a:ext cx="7812087" cy="14462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090"/>
              <a:buFont typeface="Noto Sans Symbols"/>
              <a:buChar char="▪"/>
            </a:pPr>
            <a:r>
              <a:rPr b="1" lang="en-US">
                <a:solidFill>
                  <a:srgbClr val="002060"/>
                </a:solidFill>
              </a:rPr>
              <a:t>RAID Level 5</a:t>
            </a:r>
            <a:r>
              <a:rPr b="1" lang="en-US"/>
              <a:t>: </a:t>
            </a:r>
            <a:r>
              <a:rPr lang="en-US"/>
              <a:t> </a:t>
            </a:r>
            <a:r>
              <a:rPr lang="en-US">
                <a:solidFill>
                  <a:srgbClr val="002060"/>
                </a:solidFill>
              </a:rPr>
              <a:t>Block-Interleaved Distributed Parity</a:t>
            </a:r>
            <a:r>
              <a:rPr lang="en-US"/>
              <a:t>; partitions data and parity among all</a:t>
            </a:r>
            <a:r>
              <a:rPr i="1" lang="en-US"/>
              <a:t> N</a:t>
            </a:r>
            <a:r>
              <a:rPr lang="en-US"/>
              <a:t> + 1 disks, rather than storing data in </a:t>
            </a:r>
            <a:r>
              <a:rPr i="1" lang="en-US"/>
              <a:t>N</a:t>
            </a:r>
            <a:r>
              <a:rPr lang="en-US"/>
              <a:t> disks and parity in 1 disk.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/>
              <a:t>E.g., with 5 disks, parity block for </a:t>
            </a:r>
            <a:r>
              <a:rPr i="1" lang="en-US"/>
              <a:t>n</a:t>
            </a:r>
            <a:r>
              <a:rPr lang="en-US"/>
              <a:t>th set of blocks is stored on disk (</a:t>
            </a:r>
            <a:r>
              <a:rPr i="1" lang="en-US"/>
              <a:t>n mod</a:t>
            </a:r>
            <a:r>
              <a:rPr lang="en-US"/>
              <a:t> 5) + 1, with the data blocks stored on the other 4 disks.</a:t>
            </a:r>
            <a:endParaRPr/>
          </a:p>
        </p:txBody>
      </p:sp>
      <p:pic>
        <p:nvPicPr>
          <p:cNvPr id="279" name="Google Shape;279;p39"/>
          <p:cNvPicPr preferRelativeResize="0"/>
          <p:nvPr/>
        </p:nvPicPr>
        <p:blipFill rotWithShape="1">
          <a:blip r:embed="rId3">
            <a:alphaModFix/>
          </a:blip>
          <a:srcRect b="25063" l="0" r="0" t="48619"/>
          <a:stretch/>
        </p:blipFill>
        <p:spPr>
          <a:xfrm>
            <a:off x="1805730" y="2857222"/>
            <a:ext cx="5947942" cy="1446211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95176" y="4369421"/>
            <a:ext cx="3953647" cy="20256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40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RAID Levels (Cont.)</a:t>
            </a:r>
            <a:endParaRPr/>
          </a:p>
        </p:txBody>
      </p:sp>
      <p:sp>
        <p:nvSpPr>
          <p:cNvPr id="287" name="Google Shape;287;p40"/>
          <p:cNvSpPr txBox="1"/>
          <p:nvPr>
            <p:ph idx="1" type="body"/>
          </p:nvPr>
        </p:nvSpPr>
        <p:spPr>
          <a:xfrm>
            <a:off x="814388" y="1093788"/>
            <a:ext cx="7661275" cy="4903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090"/>
              <a:buFont typeface="Noto Sans Symbols"/>
              <a:buChar char="▪"/>
            </a:pPr>
            <a:r>
              <a:rPr b="1" lang="en-US">
                <a:solidFill>
                  <a:srgbClr val="002060"/>
                </a:solidFill>
              </a:rPr>
              <a:t>RAID Level 5 </a:t>
            </a:r>
            <a:r>
              <a:rPr lang="en-US">
                <a:solidFill>
                  <a:srgbClr val="002060"/>
                </a:solidFill>
              </a:rPr>
              <a:t>(Cont.)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/>
              <a:t>Block writes occur in parallel if the blocks and their parity blocks are on different disks.</a:t>
            </a:r>
            <a:endParaRPr/>
          </a:p>
          <a:p>
            <a:pPr indent="-342900" lvl="0" marL="342900" rtl="0" algn="l">
              <a:spcBef>
                <a:spcPts val="665"/>
              </a:spcBef>
              <a:spcAft>
                <a:spcPts val="0"/>
              </a:spcAft>
              <a:buSzPts val="2090"/>
              <a:buFont typeface="Noto Sans Symbols"/>
              <a:buChar char="▪"/>
            </a:pPr>
            <a:r>
              <a:rPr b="1" lang="en-US">
                <a:solidFill>
                  <a:srgbClr val="002060"/>
                </a:solidFill>
              </a:rPr>
              <a:t>RAID Level 6</a:t>
            </a:r>
            <a:r>
              <a:rPr lang="en-US">
                <a:solidFill>
                  <a:srgbClr val="000099"/>
                </a:solidFill>
              </a:rPr>
              <a:t>:</a:t>
            </a:r>
            <a:r>
              <a:rPr lang="en-US">
                <a:solidFill>
                  <a:schemeClr val="dk2"/>
                </a:solidFill>
              </a:rPr>
              <a:t> </a:t>
            </a:r>
            <a:r>
              <a:rPr lang="en-US">
                <a:solidFill>
                  <a:srgbClr val="002060"/>
                </a:solidFill>
              </a:rPr>
              <a:t>P+Q Redundancy </a:t>
            </a:r>
            <a:r>
              <a:rPr lang="en-US"/>
              <a:t>scheme; similar to Level 5, but stores two error correction blocks (P, Q) instead of single parity block to guard against multiple disk failures. 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/>
              <a:t> Better reliability than Level 5 at a higher cost</a:t>
            </a:r>
            <a:endParaRPr/>
          </a:p>
          <a:p>
            <a:pPr indent="-228600" lvl="2" marL="1085850" rtl="0" algn="l">
              <a:spcBef>
                <a:spcPts val="630"/>
              </a:spcBef>
              <a:spcAft>
                <a:spcPts val="0"/>
              </a:spcAft>
              <a:buSzPts val="1530"/>
              <a:buChar char="▪"/>
            </a:pPr>
            <a:r>
              <a:rPr lang="en-US"/>
              <a:t>Becoming more important as storage sizes increase</a:t>
            </a:r>
            <a:endParaRPr/>
          </a:p>
        </p:txBody>
      </p:sp>
      <p:pic>
        <p:nvPicPr>
          <p:cNvPr id="288" name="Google Shape;288;p40"/>
          <p:cNvPicPr preferRelativeResize="0"/>
          <p:nvPr/>
        </p:nvPicPr>
        <p:blipFill rotWithShape="1">
          <a:blip r:embed="rId3">
            <a:alphaModFix/>
          </a:blip>
          <a:srcRect b="451" l="0" r="0" t="73230"/>
          <a:stretch/>
        </p:blipFill>
        <p:spPr>
          <a:xfrm>
            <a:off x="1671054" y="4046919"/>
            <a:ext cx="5947942" cy="14462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41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RAID Levels (Cont.)</a:t>
            </a:r>
            <a:endParaRPr/>
          </a:p>
        </p:txBody>
      </p:sp>
      <p:sp>
        <p:nvSpPr>
          <p:cNvPr id="295" name="Google Shape;295;p41"/>
          <p:cNvSpPr txBox="1"/>
          <p:nvPr>
            <p:ph idx="1" type="body"/>
          </p:nvPr>
        </p:nvSpPr>
        <p:spPr>
          <a:xfrm>
            <a:off x="814388" y="1093788"/>
            <a:ext cx="7504112" cy="4641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090"/>
              <a:buFont typeface="Noto Sans Symbols"/>
              <a:buChar char="▪"/>
            </a:pPr>
            <a:r>
              <a:rPr b="1" lang="en-US"/>
              <a:t>Other levels (not used in practice):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b="1" lang="en-US">
                <a:solidFill>
                  <a:srgbClr val="002060"/>
                </a:solidFill>
              </a:rPr>
              <a:t>RAID Level 2</a:t>
            </a:r>
            <a:r>
              <a:rPr lang="en-US"/>
              <a:t>:  </a:t>
            </a:r>
            <a:r>
              <a:rPr lang="en-US">
                <a:solidFill>
                  <a:srgbClr val="002060"/>
                </a:solidFill>
              </a:rPr>
              <a:t>Memory-Style Error-Correcting-Codes </a:t>
            </a:r>
            <a:r>
              <a:rPr lang="en-US"/>
              <a:t>(ECC) with bit striping.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b="1" lang="en-US">
                <a:solidFill>
                  <a:srgbClr val="002060"/>
                </a:solidFill>
              </a:rPr>
              <a:t>RAID Level 3</a:t>
            </a:r>
            <a:r>
              <a:rPr lang="en-US"/>
              <a:t>: </a:t>
            </a:r>
            <a:r>
              <a:rPr lang="en-US">
                <a:solidFill>
                  <a:srgbClr val="002060"/>
                </a:solidFill>
              </a:rPr>
              <a:t>Bit-Interleaved Parity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b="1" lang="en-US">
                <a:solidFill>
                  <a:srgbClr val="002060"/>
                </a:solidFill>
              </a:rPr>
              <a:t>RAID Level 4</a:t>
            </a:r>
            <a:r>
              <a:rPr b="1" lang="en-US"/>
              <a:t>: </a:t>
            </a:r>
            <a:r>
              <a:rPr lang="en-US"/>
              <a:t> </a:t>
            </a:r>
            <a:r>
              <a:rPr lang="en-US">
                <a:solidFill>
                  <a:srgbClr val="002060"/>
                </a:solidFill>
              </a:rPr>
              <a:t>Block-Interleaved Parity</a:t>
            </a:r>
            <a:r>
              <a:rPr lang="en-US"/>
              <a:t>; uses block-level striping, and keeps a parity block on a separate </a:t>
            </a:r>
            <a:r>
              <a:rPr b="1" i="1" lang="en-US"/>
              <a:t>parity disk </a:t>
            </a:r>
            <a:r>
              <a:rPr lang="en-US"/>
              <a:t>for corresponding blocks from </a:t>
            </a:r>
            <a:r>
              <a:rPr i="1" lang="en-US"/>
              <a:t>N</a:t>
            </a:r>
            <a:r>
              <a:rPr lang="en-US"/>
              <a:t> other disks.</a:t>
            </a:r>
            <a:endParaRPr/>
          </a:p>
          <a:p>
            <a:pPr indent="-228600" lvl="2" marL="1085850" rtl="0" algn="l">
              <a:spcBef>
                <a:spcPts val="630"/>
              </a:spcBef>
              <a:spcAft>
                <a:spcPts val="0"/>
              </a:spcAft>
              <a:buSzPts val="1530"/>
              <a:buChar char="▪"/>
            </a:pPr>
            <a:r>
              <a:rPr lang="en-US">
                <a:solidFill>
                  <a:srgbClr val="002060"/>
                </a:solidFill>
              </a:rPr>
              <a:t>RAID 5 is better than RAID 4, since with RAID 4 with random writes, parity disk gets much higher write load than other disks and becomes a bottleneck</a:t>
            </a:r>
            <a:endParaRPr/>
          </a:p>
          <a:p>
            <a:pPr indent="-131444" lvl="2" marL="1085850" rtl="0" algn="l">
              <a:spcBef>
                <a:spcPts val="630"/>
              </a:spcBef>
              <a:spcAft>
                <a:spcPts val="0"/>
              </a:spcAft>
              <a:buSzPts val="153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42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Choice of RAID Level</a:t>
            </a:r>
            <a:endParaRPr/>
          </a:p>
        </p:txBody>
      </p:sp>
      <p:sp>
        <p:nvSpPr>
          <p:cNvPr id="302" name="Google Shape;302;p42"/>
          <p:cNvSpPr txBox="1"/>
          <p:nvPr>
            <p:ph idx="1" type="body"/>
          </p:nvPr>
        </p:nvSpPr>
        <p:spPr>
          <a:xfrm>
            <a:off x="814388" y="1114425"/>
            <a:ext cx="72390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90"/>
              <a:buChar char="▪"/>
            </a:pPr>
            <a:r>
              <a:rPr lang="en-US"/>
              <a:t>Factors in choosing RAID level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>
                <a:solidFill>
                  <a:srgbClr val="002060"/>
                </a:solidFill>
              </a:rPr>
              <a:t>Monetary cost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>
                <a:solidFill>
                  <a:srgbClr val="002060"/>
                </a:solidFill>
              </a:rPr>
              <a:t>Performance</a:t>
            </a:r>
            <a:r>
              <a:rPr lang="en-US"/>
              <a:t>: Number of I/O operations per second, and bandwidth during normal operation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>
                <a:solidFill>
                  <a:srgbClr val="002060"/>
                </a:solidFill>
              </a:rPr>
              <a:t>Performance during failure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>
                <a:solidFill>
                  <a:srgbClr val="002060"/>
                </a:solidFill>
              </a:rPr>
              <a:t>Performance during rebuild </a:t>
            </a:r>
            <a:r>
              <a:rPr lang="en-US"/>
              <a:t>of failed disk</a:t>
            </a:r>
            <a:endParaRPr/>
          </a:p>
          <a:p>
            <a:pPr indent="-228600" lvl="2" marL="108585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1530"/>
              <a:buChar char="▪"/>
            </a:pPr>
            <a:r>
              <a:rPr lang="en-US"/>
              <a:t>Including time taken to rebuild failed disk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SzPts val="2090"/>
              <a:buChar char="▪"/>
            </a:pPr>
            <a:r>
              <a:rPr lang="en-US"/>
              <a:t>RAID 0 is used only when data safety is not important 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/>
              <a:t>E.g. data can be recovered quickly from other sources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43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Choice of RAID Level (Cont.)</a:t>
            </a:r>
            <a:endParaRPr/>
          </a:p>
        </p:txBody>
      </p:sp>
      <p:sp>
        <p:nvSpPr>
          <p:cNvPr id="309" name="Google Shape;309;p43"/>
          <p:cNvSpPr txBox="1"/>
          <p:nvPr>
            <p:ph idx="1" type="body"/>
          </p:nvPr>
        </p:nvSpPr>
        <p:spPr>
          <a:xfrm>
            <a:off x="914400" y="1122363"/>
            <a:ext cx="7559675" cy="51292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090"/>
              <a:buFont typeface="Noto Sans Symbols"/>
              <a:buChar char="▪"/>
            </a:pPr>
            <a:r>
              <a:rPr lang="en-US"/>
              <a:t>Level 1 provides much better write performance than level 5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/>
              <a:t>Level 5 requires at least 2 block reads and 2 block writes to write a single block, whereas Level 1 only requires 2 block writes</a:t>
            </a:r>
            <a:endParaRPr/>
          </a:p>
          <a:p>
            <a:pPr indent="-342900" lvl="0" marL="342900" rtl="0" algn="l">
              <a:spcBef>
                <a:spcPts val="665"/>
              </a:spcBef>
              <a:spcAft>
                <a:spcPts val="0"/>
              </a:spcAft>
              <a:buSzPts val="2090"/>
              <a:buFont typeface="Noto Sans Symbols"/>
              <a:buChar char="▪"/>
            </a:pPr>
            <a:r>
              <a:rPr lang="en-US"/>
              <a:t>Level 1 had higher storage cost than level 5</a:t>
            </a:r>
            <a:endParaRPr/>
          </a:p>
          <a:p>
            <a:pPr indent="-342900" lvl="0" marL="342900" rtl="0" algn="l">
              <a:spcBef>
                <a:spcPts val="665"/>
              </a:spcBef>
              <a:spcAft>
                <a:spcPts val="0"/>
              </a:spcAft>
              <a:buSzPts val="2090"/>
              <a:buFont typeface="Noto Sans Symbols"/>
              <a:buChar char="▪"/>
            </a:pPr>
            <a:r>
              <a:rPr lang="en-US"/>
              <a:t>Level 5 is preferred for applications where writes are sequential and large (many blocks), and need large amounts of data storage</a:t>
            </a:r>
            <a:endParaRPr/>
          </a:p>
          <a:p>
            <a:pPr indent="-342900" lvl="0" marL="342900" rtl="0" algn="l">
              <a:spcBef>
                <a:spcPts val="665"/>
              </a:spcBef>
              <a:spcAft>
                <a:spcPts val="0"/>
              </a:spcAft>
              <a:buSzPts val="2090"/>
              <a:buFont typeface="Noto Sans Symbols"/>
              <a:buChar char="▪"/>
            </a:pPr>
            <a:r>
              <a:rPr lang="en-US"/>
              <a:t>RAID 1 is preferred for applications with many random/small updates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SzPts val="2090"/>
              <a:buChar char="▪"/>
            </a:pPr>
            <a:r>
              <a:rPr lang="en-US"/>
              <a:t>Level 6 gives better data protection than RAID 5 since it can tolerate two disk (or disk block) failures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/>
              <a:t>Increasing in importance since latent block failures on one disk, coupled with a failure of another disk can result in data loss with RAID 1 and RAID 5.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44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Hardware Issues</a:t>
            </a:r>
            <a:endParaRPr/>
          </a:p>
        </p:txBody>
      </p:sp>
      <p:sp>
        <p:nvSpPr>
          <p:cNvPr id="316" name="Google Shape;316;p44"/>
          <p:cNvSpPr txBox="1"/>
          <p:nvPr>
            <p:ph idx="1" type="body"/>
          </p:nvPr>
        </p:nvSpPr>
        <p:spPr>
          <a:xfrm>
            <a:off x="976313" y="1250950"/>
            <a:ext cx="7399337" cy="4919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090"/>
              <a:buFont typeface="Noto Sans Symbols"/>
              <a:buChar char="▪"/>
            </a:pPr>
            <a:r>
              <a:rPr b="1" lang="en-US">
                <a:solidFill>
                  <a:srgbClr val="002060"/>
                </a:solidFill>
              </a:rPr>
              <a:t>Software RAID</a:t>
            </a:r>
            <a:r>
              <a:rPr lang="en-US"/>
              <a:t>:  RAID implementations done entirely in software, with no special hardware support</a:t>
            </a:r>
            <a:endParaRPr/>
          </a:p>
          <a:p>
            <a:pPr indent="-342900" lvl="0" marL="342900" rtl="0" algn="l">
              <a:spcBef>
                <a:spcPts val="665"/>
              </a:spcBef>
              <a:spcAft>
                <a:spcPts val="0"/>
              </a:spcAft>
              <a:buSzPts val="2090"/>
              <a:buFont typeface="Noto Sans Symbols"/>
              <a:buChar char="▪"/>
            </a:pPr>
            <a:r>
              <a:rPr b="1" lang="en-US">
                <a:solidFill>
                  <a:srgbClr val="002060"/>
                </a:solidFill>
              </a:rPr>
              <a:t>Hardware RAID</a:t>
            </a:r>
            <a:r>
              <a:rPr lang="en-US"/>
              <a:t>:  RAID implementations with special hardware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/>
              <a:t>Use non-volatile RAM to record writes that are being executed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/>
              <a:t>Beware:  power failure during write can result in corrupted disk</a:t>
            </a:r>
            <a:endParaRPr/>
          </a:p>
          <a:p>
            <a:pPr indent="-228600" lvl="2" marL="1085850" rtl="0" algn="l">
              <a:spcBef>
                <a:spcPts val="630"/>
              </a:spcBef>
              <a:spcAft>
                <a:spcPts val="0"/>
              </a:spcAft>
              <a:buSzPts val="1530"/>
              <a:buChar char="▪"/>
            </a:pPr>
            <a:r>
              <a:rPr lang="en-US"/>
              <a:t>E.g. failure after writing one block but before writing the second in a mirrored system</a:t>
            </a:r>
            <a:endParaRPr/>
          </a:p>
          <a:p>
            <a:pPr indent="-228600" lvl="2" marL="1085850" rtl="0" algn="l">
              <a:spcBef>
                <a:spcPts val="630"/>
              </a:spcBef>
              <a:spcAft>
                <a:spcPts val="0"/>
              </a:spcAft>
              <a:buSzPts val="1530"/>
              <a:buChar char="▪"/>
            </a:pPr>
            <a:r>
              <a:rPr lang="en-US"/>
              <a:t>Such corrupted data must be detected when power is restored</a:t>
            </a:r>
            <a:endParaRPr/>
          </a:p>
          <a:p>
            <a:pPr indent="-228600" lvl="3" marL="1428750" rtl="0" algn="l">
              <a:spcBef>
                <a:spcPts val="63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Full scan of disk may be required!</a:t>
            </a:r>
            <a:endParaRPr/>
          </a:p>
          <a:p>
            <a:pPr indent="-228600" lvl="3" marL="1428750" rtl="0" algn="l">
              <a:spcBef>
                <a:spcPts val="63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NV-RAM helps to efficiently detected potentially corrupted blocks</a:t>
            </a:r>
            <a:endParaRPr/>
          </a:p>
          <a:p>
            <a:pPr indent="-114300" lvl="3" marL="1428750" rtl="0" algn="l">
              <a:spcBef>
                <a:spcPts val="63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45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Hardware Issues (Cont.)</a:t>
            </a:r>
            <a:endParaRPr/>
          </a:p>
        </p:txBody>
      </p:sp>
      <p:sp>
        <p:nvSpPr>
          <p:cNvPr id="323" name="Google Shape;323;p45"/>
          <p:cNvSpPr txBox="1"/>
          <p:nvPr>
            <p:ph idx="1" type="body"/>
          </p:nvPr>
        </p:nvSpPr>
        <p:spPr>
          <a:xfrm>
            <a:off x="511175" y="941388"/>
            <a:ext cx="8131175" cy="4860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090"/>
              <a:buFont typeface="Noto Sans Symbols"/>
              <a:buChar char="▪"/>
            </a:pPr>
            <a:r>
              <a:rPr b="1" lang="en-US">
                <a:solidFill>
                  <a:srgbClr val="002060"/>
                </a:solidFill>
              </a:rPr>
              <a:t>Latent sector failures</a:t>
            </a:r>
            <a:r>
              <a:rPr lang="en-US">
                <a:solidFill>
                  <a:srgbClr val="000099"/>
                </a:solidFill>
              </a:rPr>
              <a:t>: </a:t>
            </a:r>
            <a:r>
              <a:rPr lang="en-US"/>
              <a:t>data successfully written earlier gets damaged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/>
              <a:t>can result in data loss even if only one disk fails</a:t>
            </a:r>
            <a:endParaRPr/>
          </a:p>
          <a:p>
            <a:pPr indent="-342900" lvl="0" marL="342900" rtl="0" algn="l">
              <a:spcBef>
                <a:spcPts val="665"/>
              </a:spcBef>
              <a:spcAft>
                <a:spcPts val="0"/>
              </a:spcAft>
              <a:buSzPts val="2090"/>
              <a:buFont typeface="Noto Sans Symbols"/>
              <a:buChar char="▪"/>
            </a:pPr>
            <a:r>
              <a:rPr b="1" lang="en-US">
                <a:solidFill>
                  <a:srgbClr val="002060"/>
                </a:solidFill>
              </a:rPr>
              <a:t>Data scrubbing</a:t>
            </a:r>
            <a:r>
              <a:rPr lang="en-US">
                <a:solidFill>
                  <a:srgbClr val="000099"/>
                </a:solidFill>
              </a:rPr>
              <a:t>:</a:t>
            </a:r>
            <a:r>
              <a:rPr b="1" lang="en-US">
                <a:solidFill>
                  <a:srgbClr val="000099"/>
                </a:solidFill>
              </a:rPr>
              <a:t> 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/>
              <a:t>continually scan for latent failures, and recover from copy/parity</a:t>
            </a:r>
            <a:endParaRPr/>
          </a:p>
          <a:p>
            <a:pPr indent="-342900" lvl="0" marL="342900" rtl="0" algn="l">
              <a:spcBef>
                <a:spcPts val="665"/>
              </a:spcBef>
              <a:spcAft>
                <a:spcPts val="0"/>
              </a:spcAft>
              <a:buSzPts val="2090"/>
              <a:buFont typeface="Noto Sans Symbols"/>
              <a:buChar char="▪"/>
            </a:pPr>
            <a:r>
              <a:rPr b="1" lang="en-US">
                <a:solidFill>
                  <a:srgbClr val="002060"/>
                </a:solidFill>
              </a:rPr>
              <a:t>Hot swapping</a:t>
            </a:r>
            <a:r>
              <a:rPr lang="en-US"/>
              <a:t>: replacement of disk while system is running, without power down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/>
              <a:t>Supported by some hardware RAID systems, 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/>
              <a:t>reduces time to recovery, and improves availability greatly</a:t>
            </a:r>
            <a:endParaRPr/>
          </a:p>
          <a:p>
            <a:pPr indent="-342900" lvl="0" marL="342900" rtl="0" algn="l">
              <a:spcBef>
                <a:spcPts val="665"/>
              </a:spcBef>
              <a:spcAft>
                <a:spcPts val="0"/>
              </a:spcAft>
              <a:buSzPts val="2090"/>
              <a:buFont typeface="Noto Sans Symbols"/>
              <a:buChar char="▪"/>
            </a:pPr>
            <a:r>
              <a:rPr b="1" lang="en-US">
                <a:solidFill>
                  <a:srgbClr val="002060"/>
                </a:solidFill>
              </a:rPr>
              <a:t>Spare disks</a:t>
            </a:r>
            <a:r>
              <a:rPr lang="en-US">
                <a:solidFill>
                  <a:srgbClr val="002060"/>
                </a:solidFill>
              </a:rPr>
              <a:t> </a:t>
            </a:r>
            <a:r>
              <a:rPr lang="en-US"/>
              <a:t>are kept online, and used as replacements for failed disks immediately on detection of failure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/>
              <a:t>Reduces time to recovery greatly</a:t>
            </a:r>
            <a:endParaRPr/>
          </a:p>
          <a:p>
            <a:pPr indent="-342900" lvl="0" marL="342900" rtl="0" algn="l">
              <a:spcBef>
                <a:spcPts val="665"/>
              </a:spcBef>
              <a:spcAft>
                <a:spcPts val="0"/>
              </a:spcAft>
              <a:buSzPts val="2090"/>
              <a:buFont typeface="Noto Sans Symbols"/>
              <a:buChar char="▪"/>
            </a:pPr>
            <a:r>
              <a:rPr lang="en-US"/>
              <a:t>To avoid single point of failure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/>
              <a:t>Redundant power supplies with UPS backup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/>
              <a:t>Multiple network controllers/network interconnections</a:t>
            </a:r>
            <a:endParaRPr/>
          </a:p>
        </p:txBody>
      </p:sp>
      <p:pic>
        <p:nvPicPr>
          <p:cNvPr descr="Image result for hot swap disk server" id="324" name="Google Shape;324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7738" y="4373563"/>
            <a:ext cx="2787376" cy="12480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46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Optimization of Disk-Block Access</a:t>
            </a:r>
            <a:endParaRPr/>
          </a:p>
        </p:txBody>
      </p:sp>
      <p:sp>
        <p:nvSpPr>
          <p:cNvPr id="331" name="Google Shape;331;p46"/>
          <p:cNvSpPr txBox="1"/>
          <p:nvPr>
            <p:ph idx="1" type="body"/>
          </p:nvPr>
        </p:nvSpPr>
        <p:spPr>
          <a:xfrm>
            <a:off x="914400" y="1122363"/>
            <a:ext cx="7675563" cy="50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090"/>
              <a:buFont typeface="Noto Sans Symbols"/>
              <a:buChar char="▪"/>
            </a:pPr>
            <a:r>
              <a:rPr b="1" lang="en-US">
                <a:solidFill>
                  <a:srgbClr val="002060"/>
                </a:solidFill>
              </a:rPr>
              <a:t>Buffering: </a:t>
            </a:r>
            <a:r>
              <a:rPr lang="en-US"/>
              <a:t>in-memory buffer to cache disk blocks</a:t>
            </a:r>
            <a:endParaRPr/>
          </a:p>
          <a:p>
            <a:pPr indent="-342900" lvl="0" marL="342900" rtl="0" algn="l">
              <a:spcBef>
                <a:spcPts val="665"/>
              </a:spcBef>
              <a:spcAft>
                <a:spcPts val="0"/>
              </a:spcAft>
              <a:buSzPts val="2090"/>
              <a:buFont typeface="Noto Sans Symbols"/>
              <a:buChar char="▪"/>
            </a:pPr>
            <a:r>
              <a:rPr b="1" lang="en-US">
                <a:solidFill>
                  <a:srgbClr val="002060"/>
                </a:solidFill>
              </a:rPr>
              <a:t>Read-ahead: </a:t>
            </a:r>
            <a:r>
              <a:rPr lang="en-US"/>
              <a:t>Read extra blocks from a track in anticipation that they will be requested soon</a:t>
            </a:r>
            <a:endParaRPr b="1"/>
          </a:p>
          <a:p>
            <a:pPr indent="-342900" lvl="0" marL="342900" rtl="0" algn="l">
              <a:spcBef>
                <a:spcPts val="665"/>
              </a:spcBef>
              <a:spcAft>
                <a:spcPts val="0"/>
              </a:spcAft>
              <a:buSzPts val="2090"/>
              <a:buFont typeface="Noto Sans Symbols"/>
              <a:buChar char="▪"/>
            </a:pPr>
            <a:r>
              <a:rPr b="1" lang="en-US">
                <a:solidFill>
                  <a:srgbClr val="002060"/>
                </a:solidFill>
              </a:rPr>
              <a:t>Disk-arm-scheduling</a:t>
            </a:r>
            <a:r>
              <a:rPr lang="en-US"/>
              <a:t> algorithms re-order block requests so that disk arm movement is minimized 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b="1" lang="en-US">
                <a:solidFill>
                  <a:srgbClr val="002060"/>
                </a:solidFill>
              </a:rPr>
              <a:t>elevator algorithm</a:t>
            </a:r>
            <a:br>
              <a:rPr b="1" lang="en-US">
                <a:solidFill>
                  <a:srgbClr val="002060"/>
                </a:solidFill>
              </a:rPr>
            </a:br>
            <a:br>
              <a:rPr b="1" lang="en-US">
                <a:solidFill>
                  <a:srgbClr val="002060"/>
                </a:solidFill>
              </a:rPr>
            </a:br>
            <a:br>
              <a:rPr b="1" lang="en-US">
                <a:solidFill>
                  <a:srgbClr val="002060"/>
                </a:solidFill>
              </a:rPr>
            </a:br>
            <a:br>
              <a:rPr b="1" lang="en-US">
                <a:solidFill>
                  <a:srgbClr val="002060"/>
                </a:solidFill>
              </a:rPr>
            </a:br>
            <a:br>
              <a:rPr b="1" lang="en-US">
                <a:solidFill>
                  <a:srgbClr val="002060"/>
                </a:solidFill>
              </a:rPr>
            </a:br>
            <a:br>
              <a:rPr b="1" lang="en-US">
                <a:solidFill>
                  <a:srgbClr val="002060"/>
                </a:solidFill>
              </a:rPr>
            </a:br>
            <a:endParaRPr b="1">
              <a:solidFill>
                <a:srgbClr val="002060"/>
              </a:solidFill>
            </a:endParaRPr>
          </a:p>
          <a:p>
            <a:pPr indent="-210184" lvl="0" marL="342900" rtl="0" algn="l">
              <a:spcBef>
                <a:spcPts val="665"/>
              </a:spcBef>
              <a:spcAft>
                <a:spcPts val="0"/>
              </a:spcAft>
              <a:buSzPts val="2090"/>
              <a:buFont typeface="Noto Sans Symbols"/>
              <a:buNone/>
            </a:pPr>
            <a:r>
              <a:t/>
            </a:r>
            <a:endParaRPr b="1">
              <a:solidFill>
                <a:srgbClr val="002060"/>
              </a:solidFill>
            </a:endParaRPr>
          </a:p>
        </p:txBody>
      </p:sp>
      <p:grpSp>
        <p:nvGrpSpPr>
          <p:cNvPr id="332" name="Google Shape;332;p46"/>
          <p:cNvGrpSpPr/>
          <p:nvPr/>
        </p:nvGrpSpPr>
        <p:grpSpPr>
          <a:xfrm>
            <a:off x="1636776" y="3213926"/>
            <a:ext cx="7135812" cy="1613345"/>
            <a:chOff x="769938" y="4782693"/>
            <a:chExt cx="7135812" cy="1613345"/>
          </a:xfrm>
        </p:grpSpPr>
        <p:cxnSp>
          <p:nvCxnSpPr>
            <p:cNvPr id="333" name="Google Shape;333;p46"/>
            <p:cNvCxnSpPr/>
            <p:nvPr/>
          </p:nvCxnSpPr>
          <p:spPr>
            <a:xfrm>
              <a:off x="4230688" y="5295900"/>
              <a:ext cx="2703512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334" name="Google Shape;334;p46"/>
            <p:cNvCxnSpPr/>
            <p:nvPr/>
          </p:nvCxnSpPr>
          <p:spPr>
            <a:xfrm rot="10800000">
              <a:off x="2746375" y="5627688"/>
              <a:ext cx="4187825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335" name="Google Shape;335;p46"/>
            <p:cNvSpPr txBox="1"/>
            <p:nvPr/>
          </p:nvSpPr>
          <p:spPr>
            <a:xfrm>
              <a:off x="4083050" y="4795393"/>
              <a:ext cx="442913" cy="336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lang="en-US" sz="16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R1</a:t>
              </a:r>
              <a:endParaRPr/>
            </a:p>
          </p:txBody>
        </p:sp>
        <p:sp>
          <p:nvSpPr>
            <p:cNvPr id="336" name="Google Shape;336;p46"/>
            <p:cNvSpPr txBox="1"/>
            <p:nvPr/>
          </p:nvSpPr>
          <p:spPr>
            <a:xfrm>
              <a:off x="4895850" y="4782693"/>
              <a:ext cx="442913" cy="336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lang="en-US" sz="16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R5</a:t>
              </a:r>
              <a:endParaRPr/>
            </a:p>
          </p:txBody>
        </p:sp>
        <p:sp>
          <p:nvSpPr>
            <p:cNvPr id="337" name="Google Shape;337;p46"/>
            <p:cNvSpPr txBox="1"/>
            <p:nvPr/>
          </p:nvSpPr>
          <p:spPr>
            <a:xfrm>
              <a:off x="5835650" y="4782693"/>
              <a:ext cx="442913" cy="336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lang="en-US" sz="16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R2</a:t>
              </a:r>
              <a:endParaRPr/>
            </a:p>
          </p:txBody>
        </p:sp>
        <p:sp>
          <p:nvSpPr>
            <p:cNvPr id="338" name="Google Shape;338;p46"/>
            <p:cNvSpPr txBox="1"/>
            <p:nvPr/>
          </p:nvSpPr>
          <p:spPr>
            <a:xfrm>
              <a:off x="6610350" y="4795393"/>
              <a:ext cx="442913" cy="336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lang="en-US" sz="16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R4</a:t>
              </a:r>
              <a:endParaRPr/>
            </a:p>
          </p:txBody>
        </p:sp>
        <p:sp>
          <p:nvSpPr>
            <p:cNvPr id="339" name="Google Shape;339;p46"/>
            <p:cNvSpPr txBox="1"/>
            <p:nvPr/>
          </p:nvSpPr>
          <p:spPr>
            <a:xfrm>
              <a:off x="3321050" y="4795393"/>
              <a:ext cx="442913" cy="336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lang="en-US" sz="16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R3</a:t>
              </a:r>
              <a:endParaRPr/>
            </a:p>
          </p:txBody>
        </p:sp>
        <p:sp>
          <p:nvSpPr>
            <p:cNvPr id="340" name="Google Shape;340;p46"/>
            <p:cNvSpPr txBox="1"/>
            <p:nvPr/>
          </p:nvSpPr>
          <p:spPr>
            <a:xfrm>
              <a:off x="2755900" y="4814443"/>
              <a:ext cx="442913" cy="336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lang="en-US" sz="16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R6</a:t>
              </a:r>
              <a:endParaRPr/>
            </a:p>
          </p:txBody>
        </p:sp>
        <p:cxnSp>
          <p:nvCxnSpPr>
            <p:cNvPr id="341" name="Google Shape;341;p46"/>
            <p:cNvCxnSpPr/>
            <p:nvPr/>
          </p:nvCxnSpPr>
          <p:spPr>
            <a:xfrm>
              <a:off x="1484313" y="5976938"/>
              <a:ext cx="6003925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42" name="Google Shape;342;p46"/>
            <p:cNvSpPr txBox="1"/>
            <p:nvPr/>
          </p:nvSpPr>
          <p:spPr>
            <a:xfrm>
              <a:off x="769938" y="6026150"/>
              <a:ext cx="1146175" cy="336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lang="en-US" sz="16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Inner track</a:t>
              </a:r>
              <a:endParaRPr/>
            </a:p>
          </p:txBody>
        </p:sp>
        <p:sp>
          <p:nvSpPr>
            <p:cNvPr id="343" name="Google Shape;343;p46"/>
            <p:cNvSpPr txBox="1"/>
            <p:nvPr/>
          </p:nvSpPr>
          <p:spPr>
            <a:xfrm>
              <a:off x="6713538" y="6059488"/>
              <a:ext cx="1192212" cy="336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lang="en-US" sz="16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Outer track</a:t>
              </a:r>
              <a:endParaRPr/>
            </a:p>
          </p:txBody>
        </p:sp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47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Optimization of Disk Block Access (Cont.)</a:t>
            </a:r>
            <a:endParaRPr/>
          </a:p>
        </p:txBody>
      </p:sp>
      <p:sp>
        <p:nvSpPr>
          <p:cNvPr id="350" name="Google Shape;350;p47"/>
          <p:cNvSpPr txBox="1"/>
          <p:nvPr>
            <p:ph idx="1" type="body"/>
          </p:nvPr>
        </p:nvSpPr>
        <p:spPr>
          <a:xfrm>
            <a:off x="814388" y="1093788"/>
            <a:ext cx="7661275" cy="4903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090"/>
              <a:buFont typeface="Noto Sans Symbols"/>
              <a:buChar char="▪"/>
            </a:pPr>
            <a:r>
              <a:rPr b="1" lang="en-US">
                <a:solidFill>
                  <a:srgbClr val="002060"/>
                </a:solidFill>
              </a:rPr>
              <a:t>File organization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b="1" lang="en-US"/>
              <a:t> </a:t>
            </a:r>
            <a:r>
              <a:rPr lang="en-US"/>
              <a:t>Allocate blocks of a file in as contiguous a manner as possible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/>
              <a:t>Allocation in units of </a:t>
            </a:r>
            <a:r>
              <a:rPr b="1" lang="en-US">
                <a:solidFill>
                  <a:srgbClr val="001C2D"/>
                </a:solidFill>
              </a:rPr>
              <a:t>extents</a:t>
            </a:r>
            <a:endParaRPr/>
          </a:p>
          <a:p>
            <a:pPr indent="-285750" lvl="1" marL="742950" rtl="0" algn="l">
              <a:spcBef>
                <a:spcPts val="665"/>
              </a:spcBef>
              <a:spcAft>
                <a:spcPts val="0"/>
              </a:spcAft>
              <a:buSzPts val="2090"/>
              <a:buChar char="•"/>
            </a:pPr>
            <a:r>
              <a:rPr lang="en-US" sz="1900"/>
              <a:t>Files may get </a:t>
            </a:r>
            <a:r>
              <a:rPr b="1" lang="en-US" sz="1900">
                <a:solidFill>
                  <a:srgbClr val="002060"/>
                </a:solidFill>
              </a:rPr>
              <a:t>fragmented</a:t>
            </a:r>
            <a:endParaRPr sz="1900"/>
          </a:p>
          <a:p>
            <a:pPr indent="-228600" lvl="2" marL="1085850" rtl="0" algn="l">
              <a:spcBef>
                <a:spcPts val="630"/>
              </a:spcBef>
              <a:spcAft>
                <a:spcPts val="0"/>
              </a:spcAft>
              <a:buSzPts val="1530"/>
              <a:buChar char="▪"/>
            </a:pPr>
            <a:r>
              <a:rPr lang="en-US"/>
              <a:t>E.g. if free blocks on disk are scattered, and newly created file has its blocks scattered over the disk</a:t>
            </a:r>
            <a:endParaRPr/>
          </a:p>
          <a:p>
            <a:pPr indent="-228600" lvl="2" marL="1085850" rtl="0" algn="l">
              <a:spcBef>
                <a:spcPts val="630"/>
              </a:spcBef>
              <a:spcAft>
                <a:spcPts val="0"/>
              </a:spcAft>
              <a:buSzPts val="1530"/>
              <a:buChar char="▪"/>
            </a:pPr>
            <a:r>
              <a:rPr lang="en-US"/>
              <a:t>Sequential access to a fragmented file results in increased disk arm movement</a:t>
            </a:r>
            <a:endParaRPr/>
          </a:p>
          <a:p>
            <a:pPr indent="-228600" lvl="2" marL="1085850" rtl="0" algn="l">
              <a:spcBef>
                <a:spcPts val="630"/>
              </a:spcBef>
              <a:spcAft>
                <a:spcPts val="0"/>
              </a:spcAft>
              <a:buSzPts val="1530"/>
              <a:buChar char="▪"/>
            </a:pPr>
            <a:r>
              <a:rPr lang="en-US"/>
              <a:t>Some systems have utilities to </a:t>
            </a:r>
            <a:r>
              <a:rPr b="1" lang="en-US">
                <a:solidFill>
                  <a:srgbClr val="002060"/>
                </a:solidFill>
              </a:rPr>
              <a:t>defragment</a:t>
            </a:r>
            <a:r>
              <a:rPr lang="en-US"/>
              <a:t> the file system, in order to speed up file access</a:t>
            </a:r>
            <a:endParaRPr b="1">
              <a:solidFill>
                <a:srgbClr val="001C2D"/>
              </a:solidFill>
            </a:endParaRPr>
          </a:p>
          <a:p>
            <a:pPr indent="-342900" lvl="0" marL="342900" rtl="0" algn="l">
              <a:spcBef>
                <a:spcPts val="665"/>
              </a:spcBef>
              <a:spcAft>
                <a:spcPts val="0"/>
              </a:spcAft>
              <a:buSzPts val="2090"/>
              <a:buFont typeface="Noto Sans Symbols"/>
              <a:buChar char="▪"/>
            </a:pPr>
            <a:r>
              <a:rPr b="1" lang="en-US">
                <a:solidFill>
                  <a:srgbClr val="002060"/>
                </a:solidFill>
              </a:rPr>
              <a:t>Non-volatile write buffers </a:t>
            </a:r>
            <a:endParaRPr/>
          </a:p>
          <a:p>
            <a:pPr indent="-131444" lvl="2" marL="1085850" rtl="0" algn="l">
              <a:spcBef>
                <a:spcPts val="630"/>
              </a:spcBef>
              <a:spcAft>
                <a:spcPts val="0"/>
              </a:spcAft>
              <a:buSzPts val="1530"/>
              <a:buNone/>
            </a:pPr>
            <a:r>
              <a:t/>
            </a:r>
            <a:endParaRPr/>
          </a:p>
          <a:p>
            <a:pPr indent="-210184" lvl="0" marL="342900" rtl="0" algn="l">
              <a:spcBef>
                <a:spcPts val="665"/>
              </a:spcBef>
              <a:spcAft>
                <a:spcPts val="0"/>
              </a:spcAft>
              <a:buSzPts val="2090"/>
              <a:buFont typeface="Noto Sans Symbols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48"/>
          <p:cNvSpPr txBox="1"/>
          <p:nvPr>
            <p:ph type="ctrTitle"/>
          </p:nvPr>
        </p:nvSpPr>
        <p:spPr>
          <a:xfrm>
            <a:off x="685800" y="22860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End of Chapter 12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49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Magnetic Tapes</a:t>
            </a:r>
            <a:endParaRPr/>
          </a:p>
        </p:txBody>
      </p:sp>
      <p:sp>
        <p:nvSpPr>
          <p:cNvPr id="363" name="Google Shape;363;p49"/>
          <p:cNvSpPr txBox="1"/>
          <p:nvPr>
            <p:ph idx="1" type="body"/>
          </p:nvPr>
        </p:nvSpPr>
        <p:spPr>
          <a:xfrm>
            <a:off x="885825" y="1136650"/>
            <a:ext cx="7558088" cy="4830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090"/>
              <a:buFont typeface="Noto Sans Symbols"/>
              <a:buChar char="▪"/>
            </a:pPr>
            <a:r>
              <a:rPr lang="en-US"/>
              <a:t>Hold large volumes of data and provide high transfer rates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/>
              <a:t>Few GB for DAT (Digital Audio Tape) format, 10-40 GB with DLT (Digital Linear Tape) format, 100 GB+ with Ultrium format, and 330 GB with Ampex helical scan format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/>
              <a:t>Transfer rates from few to 10s of MB/s</a:t>
            </a:r>
            <a:endParaRPr/>
          </a:p>
          <a:p>
            <a:pPr indent="-342900" lvl="0" marL="342900" rtl="0" algn="l">
              <a:spcBef>
                <a:spcPts val="665"/>
              </a:spcBef>
              <a:spcAft>
                <a:spcPts val="0"/>
              </a:spcAft>
              <a:buSzPts val="2090"/>
              <a:buFont typeface="Noto Sans Symbols"/>
              <a:buChar char="▪"/>
            </a:pPr>
            <a:r>
              <a:rPr lang="en-US"/>
              <a:t>Tapes are cheap, but cost of drives is very high</a:t>
            </a:r>
            <a:endParaRPr/>
          </a:p>
          <a:p>
            <a:pPr indent="-342900" lvl="0" marL="342900" rtl="0" algn="l">
              <a:spcBef>
                <a:spcPts val="665"/>
              </a:spcBef>
              <a:spcAft>
                <a:spcPts val="0"/>
              </a:spcAft>
              <a:buSzPts val="2090"/>
              <a:buFont typeface="Noto Sans Symbols"/>
              <a:buChar char="▪"/>
            </a:pPr>
            <a:r>
              <a:rPr lang="en-US"/>
              <a:t>Very slow access time in comparison to magnetic and optical disks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/>
              <a:t>limited to sequential access.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/>
              <a:t>Some formats (Accelis) provide faster seek (10s of seconds) at cost of lower capacity</a:t>
            </a:r>
            <a:endParaRPr/>
          </a:p>
          <a:p>
            <a:pPr indent="-342900" lvl="0" marL="342900" rtl="0" algn="l">
              <a:spcBef>
                <a:spcPts val="665"/>
              </a:spcBef>
              <a:spcAft>
                <a:spcPts val="0"/>
              </a:spcAft>
              <a:buSzPts val="2090"/>
              <a:buFont typeface="Noto Sans Symbols"/>
              <a:buChar char="▪"/>
            </a:pPr>
            <a:r>
              <a:rPr lang="en-US"/>
              <a:t>Used mainly for backup, for storage of infrequently used information, and as an off-line medium for transferring information from one system to another.</a:t>
            </a:r>
            <a:endParaRPr/>
          </a:p>
          <a:p>
            <a:pPr indent="-342900" lvl="0" marL="342900" rtl="0" algn="l">
              <a:spcBef>
                <a:spcPts val="665"/>
              </a:spcBef>
              <a:spcAft>
                <a:spcPts val="0"/>
              </a:spcAft>
              <a:buSzPts val="2090"/>
              <a:buFont typeface="Noto Sans Symbols"/>
              <a:buChar char="▪"/>
            </a:pPr>
            <a:r>
              <a:rPr lang="en-US"/>
              <a:t>Tape jukeboxes used for very large capacity storage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/>
              <a:t>Multiple petabyes (10</a:t>
            </a:r>
            <a:r>
              <a:rPr baseline="30000" lang="en-US"/>
              <a:t>15 </a:t>
            </a:r>
            <a:r>
              <a:rPr lang="en-US"/>
              <a:t>bytes)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50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Figure 10.03</a:t>
            </a:r>
            <a:endParaRPr/>
          </a:p>
        </p:txBody>
      </p:sp>
      <p:pic>
        <p:nvPicPr>
          <p:cNvPr id="370" name="Google Shape;370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05150" y="757238"/>
            <a:ext cx="3327400" cy="571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51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76" name="Google Shape;376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66432" y="1368735"/>
            <a:ext cx="2343150" cy="1209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5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37820" y="3220071"/>
            <a:ext cx="3000375" cy="2771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2_db-5-grey">
  <a:themeElements>
    <a:clrScheme name="">
      <a:dk1>
        <a:srgbClr val="000000"/>
      </a:dk1>
      <a:lt1>
        <a:srgbClr val="CCECFF"/>
      </a:lt1>
      <a:dk2>
        <a:srgbClr val="CC3300"/>
      </a:dk2>
      <a:lt2>
        <a:srgbClr val="666699"/>
      </a:lt2>
      <a:accent1>
        <a:srgbClr val="FFFFFF"/>
      </a:accent1>
      <a:accent2>
        <a:srgbClr val="CCCC00"/>
      </a:accent2>
      <a:accent3>
        <a:srgbClr val="E2F4FF"/>
      </a:accent3>
      <a:accent4>
        <a:srgbClr val="000000"/>
      </a:accent4>
      <a:accent5>
        <a:srgbClr val="FFFFFF"/>
      </a:accent5>
      <a:accent6>
        <a:srgbClr val="B9B900"/>
      </a:accent6>
      <a:hlink>
        <a:srgbClr val="FF9900"/>
      </a:hlink>
      <a:folHlink>
        <a:srgbClr val="FF9933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